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nek Bangla Expanded Medium"/>
      <p:bold r:id="rId20"/>
    </p:embeddedFont>
    <p:embeddedFont>
      <p:font typeface="Anek Bangla Expanded SemiBold"/>
      <p:bold r:id="rId21"/>
    </p:embeddedFont>
    <p:embeddedFont>
      <p:font typeface="Anek Bangla Expanded Regular"/>
      <p:regular r:id="rId22"/>
    </p:embeddedFont>
    <p:embeddedFont>
      <p:font typeface="Anek Bangla Expanded ExtraLight"/>
      <p:regular r:id="rId23"/>
    </p:embeddedFont>
    <p:embeddedFont>
      <p:font typeface="Pretendard Bold"/>
      <p:bold r:id="rId24"/>
    </p:embeddedFont>
    <p:embeddedFont>
      <p:font typeface="Pretendard Regular"/>
      <p:regular r:id="rId25"/>
    </p:embeddedFont>
    <p:embeddedFont>
      <p:font typeface="NanumSquare Bold"/>
      <p:bold r:id="rId26"/>
    </p:embeddedFont>
    <p:embeddedFont>
      <p:font typeface="NanumSquare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1.fntdata" Type="http://schemas.openxmlformats.org/officeDocument/2006/relationships/font"/><Relationship Id="rId21" Target="fonts/font2.fntdata" Type="http://schemas.openxmlformats.org/officeDocument/2006/relationships/font"/><Relationship Id="rId22" Target="fonts/font3.fntdata" Type="http://schemas.openxmlformats.org/officeDocument/2006/relationships/font"/><Relationship Id="rId23" Target="fonts/font4.fntdata" Type="http://schemas.openxmlformats.org/officeDocument/2006/relationships/font"/><Relationship Id="rId24" Target="fonts/font5.fntdata" Type="http://schemas.openxmlformats.org/officeDocument/2006/relationships/font"/><Relationship Id="rId25" Target="fonts/font6.fntdata" Type="http://schemas.openxmlformats.org/officeDocument/2006/relationships/font"/><Relationship Id="rId26" Target="fonts/font7.fntdata" Type="http://schemas.openxmlformats.org/officeDocument/2006/relationships/font"/><Relationship Id="rId27" Target="fonts/font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6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6.png" Type="http://schemas.openxmlformats.org/officeDocument/2006/relationships/image"/><Relationship Id="rId5" Target="../media/image32.png" Type="http://schemas.openxmlformats.org/officeDocument/2006/relationships/image"/><Relationship Id="rId6" Target="../media/image25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6.png" Type="http://schemas.openxmlformats.org/officeDocument/2006/relationships/image"/><Relationship Id="rId5" Target="../media/image32.png" Type="http://schemas.openxmlformats.org/officeDocument/2006/relationships/image"/><Relationship Id="rId6" Target="../media/image25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6.png" Type="http://schemas.openxmlformats.org/officeDocument/2006/relationships/image"/><Relationship Id="rId5" Target="../media/image32.png" Type="http://schemas.openxmlformats.org/officeDocument/2006/relationships/image"/><Relationship Id="rId6" Target="../media/image25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6.png" Type="http://schemas.openxmlformats.org/officeDocument/2006/relationships/image"/><Relationship Id="rId5" Target="../media/image43.png" Type="http://schemas.openxmlformats.org/officeDocument/2006/relationships/image"/><Relationship Id="rId6" Target="../media/image25.png" Type="http://schemas.openxmlformats.org/officeDocument/2006/relationships/image"/><Relationship Id="rId7" Target="../media/image44.png" Type="http://schemas.openxmlformats.org/officeDocument/2006/relationships/image"/><Relationship Id="rId8" Target="../media/image3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6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55.pn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6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229600" y="-127000"/>
            <a:ext cx="10350500" cy="1061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56200" y="6438900"/>
            <a:ext cx="11442700" cy="415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1714500"/>
            <a:ext cx="16281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6172200"/>
            <a:ext cx="13919200" cy="336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1339"/>
              </a:lnSpc>
            </a:pPr>
            <a:r>
              <a:rPr lang="en-US" sz="13500" b="false" i="false" u="none" strike="noStrike" spc="-400">
                <a:solidFill>
                  <a:srgbClr val="000000"/>
                </a:solidFill>
                <a:latin typeface="Anek Bangla Expanded Medium"/>
              </a:rPr>
              <a:t>FRONT-END</a:t>
            </a:r>
          </a:p>
          <a:p>
            <a:pPr algn="l" lvl="0">
              <a:lnSpc>
                <a:spcPct val="81339"/>
              </a:lnSpc>
            </a:pPr>
            <a:r>
              <a:rPr lang="en-US" sz="13500" b="false" i="false" u="none" strike="noStrike" spc="-400">
                <a:solidFill>
                  <a:srgbClr val="000000"/>
                </a:solidFill>
                <a:latin typeface="Anek Bangla Expanded Medium"/>
              </a:rPr>
              <a:t>CSS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14800" y="711200"/>
            <a:ext cx="7620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S-Core Dream 5 Medium"/>
              </a:rPr>
              <a:t>E-mail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14800" y="1054100"/>
            <a:ext cx="22733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S-Core Dream 3 Light"/>
              </a:rPr>
              <a:t>miriedu@company.com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3300" y="711200"/>
            <a:ext cx="9906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S-Core Dream 5 Medium"/>
              </a:rPr>
              <a:t>Website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3300" y="1054100"/>
            <a:ext cx="2400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S-Core Dream 3 Light"/>
              </a:rPr>
              <a:t>www.miricanvas.com</a:t>
            </a:r>
          </a:p>
        </p:txBody>
      </p:sp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532100" y="736600"/>
            <a:ext cx="1739900" cy="52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824200" y="863600"/>
            <a:ext cx="1155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300" y="5397500"/>
            <a:ext cx="35306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Anek Bangla Expanded Regular"/>
              </a:rPr>
              <a:t>2025.09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65100" y="-101600"/>
            <a:ext cx="5245100" cy="297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1168400"/>
            <a:ext cx="12141200" cy="9398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198100" y="5613400"/>
            <a:ext cx="660400" cy="660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198100" y="6464300"/>
            <a:ext cx="660400" cy="66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198100" y="7315200"/>
            <a:ext cx="6604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198100" y="8166100"/>
            <a:ext cx="6604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0147300" y="6362700"/>
            <a:ext cx="72263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0147300" y="7213600"/>
            <a:ext cx="72263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0147300" y="8064500"/>
            <a:ext cx="72263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0147300" y="8915400"/>
            <a:ext cx="7226300" cy="12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125200" y="5753100"/>
            <a:ext cx="3962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CSS </a:t>
            </a: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라이브러리의</a:t>
            </a: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필요성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23500" y="5740400"/>
            <a:ext cx="6096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Anek Bangla Expanded ExtraLight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25200" y="6604000"/>
            <a:ext cx="32385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CSS </a:t>
            </a: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라이브러리</a:t>
            </a: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분류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23500" y="6591300"/>
            <a:ext cx="6096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Anek Bangla Expanded ExtraLight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25200" y="7454900"/>
            <a:ext cx="3289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주요</a:t>
            </a: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라이브러리</a:t>
            </a: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소개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23500" y="7442200"/>
            <a:ext cx="6096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Anek Bangla Expanded ExtraLight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25200" y="8305800"/>
            <a:ext cx="32385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비교</a:t>
            </a: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 &amp; </a:t>
            </a: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선택</a:t>
            </a: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S-Core Dream 4 Regular"/>
              </a:rPr>
              <a:t>기준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23500" y="8293100"/>
            <a:ext cx="6096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Anek Bangla Expanded ExtraLight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300" y="977900"/>
            <a:ext cx="6438900" cy="2679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8600" b="false" i="false" u="none" strike="noStrike" spc="-200">
                <a:solidFill>
                  <a:srgbClr val="000000"/>
                </a:solidFill>
                <a:latin typeface="Anek Bangla Expanded Medium"/>
              </a:rPr>
              <a:t>Table of Contents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-165100"/>
            <a:ext cx="15125700" cy="2082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5956300"/>
            <a:ext cx="18288000" cy="453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2540000"/>
            <a:ext cx="162814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04900" y="1206500"/>
            <a:ext cx="130683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8600" b="false" i="false" u="none" strike="noStrike" spc="-200">
                <a:solidFill>
                  <a:srgbClr val="000000"/>
                </a:solidFill>
                <a:latin typeface="S-Core Dream 7 ExtraBold"/>
              </a:rPr>
              <a:t>CSS </a:t>
            </a:r>
            <a:r>
              <a:rPr lang="ko-KR" sz="8600" b="false" i="false" u="none" strike="noStrike" spc="-200">
                <a:solidFill>
                  <a:srgbClr val="000000"/>
                </a:solidFill>
                <a:ea typeface="S-Core Dream 7 ExtraBold"/>
              </a:rPr>
              <a:t>라이브러리란</a:t>
            </a:r>
            <a:r>
              <a:rPr lang="en-US" sz="8600" b="false" i="false" u="none" strike="noStrike" spc="-200">
                <a:solidFill>
                  <a:srgbClr val="000000"/>
                </a:solidFill>
                <a:latin typeface="S-Core Dream 7 ExtraBold"/>
              </a:rPr>
              <a:t>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81400" y="5054600"/>
            <a:ext cx="112649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 </a:t>
            </a: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웹</a:t>
            </a: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 UI</a:t>
            </a: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를</a:t>
            </a: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빠르게</a:t>
            </a: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만들고</a:t>
            </a: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, </a:t>
            </a:r>
          </a:p>
          <a:p>
            <a:pPr algn="l" lvl="0">
              <a:lnSpc>
                <a:spcPct val="116199"/>
              </a:lnSpc>
            </a:pP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스타일</a:t>
            </a: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일관성을</a:t>
            </a: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유지하도록</a:t>
            </a: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도와주는</a:t>
            </a:r>
            <a:r>
              <a:rPr lang="en-US" sz="5300" b="false" i="tru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00" b="false" i="true" u="none" strike="noStrike">
                <a:solidFill>
                  <a:srgbClr val="000000"/>
                </a:solidFill>
                <a:ea typeface="Pretendard Bold"/>
              </a:rPr>
              <a:t>도구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0" y="-101600"/>
            <a:ext cx="9448800" cy="2425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04500" y="-241300"/>
            <a:ext cx="7937500" cy="668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6807200" y="7785100"/>
            <a:ext cx="850900" cy="85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0" y="8051800"/>
            <a:ext cx="546100" cy="317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03300" y="977900"/>
            <a:ext cx="136271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8600" b="false" i="false" u="none" strike="noStrike" spc="-200">
                <a:solidFill>
                  <a:srgbClr val="000000"/>
                </a:solidFill>
                <a:latin typeface="S-Core Dream 7 ExtraBold"/>
              </a:rPr>
              <a:t>Why CSS Tools?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34600" y="2908300"/>
            <a:ext cx="74676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5000" b="false" i="false" u="none" strike="noStrike" spc="-100">
                <a:solidFill>
                  <a:srgbClr val="000000"/>
                </a:solidFill>
                <a:latin typeface="S-Core Dream 4 Regular"/>
              </a:rPr>
              <a:t>Tailwind CSS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3800" y="2705100"/>
            <a:ext cx="6845300" cy="7073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02800" y="4089400"/>
            <a:ext cx="7886700" cy="2362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29500" y="3937000"/>
            <a:ext cx="2654300" cy="26543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347200" y="7112000"/>
            <a:ext cx="86741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별도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CSS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파일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필요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없음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색상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크기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, hover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같은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속성을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클래스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조합만으로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바로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전반에서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같은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유틸리티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클래스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사용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일관성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유지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쉬움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4800" y="-165100"/>
            <a:ext cx="15125700" cy="2082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5956300"/>
            <a:ext cx="18288000" cy="453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03300" y="3708400"/>
            <a:ext cx="4851400" cy="485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6718300" y="3708400"/>
            <a:ext cx="4851400" cy="4851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6045200" y="5473700"/>
            <a:ext cx="482600" cy="482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2700000">
            <a:off x="11760200" y="5473700"/>
            <a:ext cx="4826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2420600" y="3708400"/>
            <a:ext cx="4851400" cy="4851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104900" y="5702300"/>
            <a:ext cx="46355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819900" y="5702300"/>
            <a:ext cx="46355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2534900" y="5702300"/>
            <a:ext cx="46355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2540000"/>
            <a:ext cx="16281400" cy="12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04900" y="1206500"/>
            <a:ext cx="130683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8600" b="false" i="false" u="none" strike="noStrike" spc="-200">
                <a:solidFill>
                  <a:srgbClr val="000000"/>
                </a:solidFill>
                <a:latin typeface="S-Core Dream 7 ExtraBold"/>
              </a:rPr>
              <a:t>Why CSS Tools?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2000" y="4851400"/>
            <a:ext cx="2679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000000"/>
                </a:solidFill>
                <a:ea typeface="Anek Bangla Expanded Medium"/>
              </a:rPr>
              <a:t>디자인</a:t>
            </a:r>
            <a:r>
              <a:rPr lang="en-US" sz="3500" b="false" i="false" u="none" strike="noStrike">
                <a:solidFill>
                  <a:srgbClr val="000000"/>
                </a:solidFill>
                <a:latin typeface="Anek Bangla Expanded Medium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Anek Bangla Expanded Medium"/>
              </a:rPr>
              <a:t>일관성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6400" y="6261100"/>
            <a:ext cx="35179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CSS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라이브러리는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미리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정의된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컴포넌트와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디자인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시스템을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 </a:t>
            </a:r>
          </a:p>
          <a:p>
            <a:pPr algn="ctr" lvl="0">
              <a:lnSpc>
                <a:spcPct val="138609"/>
              </a:lnSpc>
            </a:pP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제공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75600" y="4851400"/>
            <a:ext cx="23368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000000"/>
                </a:solidFill>
                <a:ea typeface="Anek Bangla Expanded Medium"/>
              </a:rPr>
              <a:t>생산성</a:t>
            </a:r>
            <a:r>
              <a:rPr lang="en-US" sz="3500" b="false" i="false" u="none" strike="noStrike">
                <a:solidFill>
                  <a:srgbClr val="000000"/>
                </a:solidFill>
                <a:latin typeface="Anek Bangla Expanded Medium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Anek Bangla Expanded Medium"/>
              </a:rPr>
              <a:t>향상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67600" y="6261100"/>
            <a:ext cx="33274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라이브러리에는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자주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쓰이는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(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버튼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모달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카드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등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)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가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이미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구현되어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있음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58800" y="4851400"/>
            <a:ext cx="3175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000000"/>
                </a:solidFill>
                <a:ea typeface="Anek Bangla Expanded Medium"/>
              </a:rPr>
              <a:t>유지보수</a:t>
            </a:r>
            <a:r>
              <a:rPr lang="en-US" sz="3500" b="false" i="false" u="none" strike="noStrike">
                <a:solidFill>
                  <a:srgbClr val="000000"/>
                </a:solidFill>
                <a:latin typeface="Anek Bangla Expanded Medium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Anek Bangla Expanded Medium"/>
              </a:rPr>
              <a:t>용이성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82600" y="5969000"/>
            <a:ext cx="3340100" cy="207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CSS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라이브러리는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구조화된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시스템을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제공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→ </a:t>
            </a:r>
          </a:p>
          <a:p>
            <a:pPr algn="ctr" lvl="0">
              <a:lnSpc>
                <a:spcPct val="138609"/>
              </a:lnSpc>
            </a:pP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새로운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기능을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추가하거나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 </a:t>
            </a:r>
          </a:p>
          <a:p>
            <a:pPr algn="ctr" lvl="0">
              <a:lnSpc>
                <a:spcPct val="138609"/>
              </a:lnSpc>
            </a:pP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디자인을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바꿀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때도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쉽게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 </a:t>
            </a:r>
          </a:p>
          <a:p>
            <a:pPr algn="ctr" lvl="0">
              <a:lnSpc>
                <a:spcPct val="138609"/>
              </a:lnSpc>
            </a:pP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유지보수</a:t>
            </a:r>
            <a:r>
              <a:rPr lang="en-US" sz="20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20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623800" y="-203200"/>
            <a:ext cx="5930900" cy="5778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39100" y="-330200"/>
            <a:ext cx="9372600" cy="265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0">
            <a:off x="1003300" y="3378200"/>
            <a:ext cx="5232400" cy="6172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1384300" y="8458200"/>
            <a:ext cx="44704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0">
            <a:off x="6527800" y="3378200"/>
            <a:ext cx="5232400" cy="6172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6908800" y="8458200"/>
            <a:ext cx="44704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0">
            <a:off x="12039600" y="3378200"/>
            <a:ext cx="5232400" cy="617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12433300" y="8458200"/>
            <a:ext cx="44704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4300" y="3683000"/>
            <a:ext cx="1219200" cy="1219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62100" y="3810000"/>
            <a:ext cx="863600" cy="863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08800" y="3683000"/>
            <a:ext cx="1219200" cy="1219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33300" y="3683000"/>
            <a:ext cx="1219200" cy="1219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073900" y="3848100"/>
            <a:ext cx="863600" cy="863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611100" y="3848100"/>
            <a:ext cx="850900" cy="850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03300" y="990600"/>
            <a:ext cx="106045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9000" b="false" i="false" u="none" strike="noStrike" spc="-200">
                <a:solidFill>
                  <a:srgbClr val="000000"/>
                </a:solidFill>
                <a:latin typeface="S-Core Dream 7 ExtraBold"/>
              </a:rPr>
              <a:t>CSS </a:t>
            </a:r>
            <a:r>
              <a:rPr lang="ko-KR" sz="9000" b="false" i="false" u="none" strike="noStrike" spc="-200">
                <a:solidFill>
                  <a:srgbClr val="000000"/>
                </a:solidFill>
                <a:ea typeface="S-Core Dream 7 ExtraBold"/>
              </a:rPr>
              <a:t>라이브러리</a:t>
            </a:r>
            <a:r>
              <a:rPr lang="en-US" sz="9000" b="false" i="false" u="none" strike="noStrike" spc="-20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9000" b="false" i="false" u="none" strike="noStrike" spc="-200">
                <a:solidFill>
                  <a:srgbClr val="000000"/>
                </a:solidFill>
                <a:ea typeface="S-Core Dream 7 ExtraBold"/>
              </a:rPr>
              <a:t>분류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9400" y="6210300"/>
            <a:ext cx="2794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5189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S-Core Dream 4 Regular"/>
              </a:rPr>
              <a:t>Utility-first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7500" y="7200900"/>
            <a:ext cx="41148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원자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단위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클래스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조합으로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스타일링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빠른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개발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속도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&amp;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일관성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유지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코드가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클래스명으로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길어질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수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있음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7500" y="8724900"/>
            <a:ext cx="17907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51890"/>
              </a:lnSpc>
            </a:pPr>
            <a:r>
              <a:rPr lang="ko-KR" sz="1700" b="true" i="false" u="none" strike="noStrike">
                <a:solidFill>
                  <a:srgbClr val="595959"/>
                </a:solidFill>
                <a:ea typeface="S-Core Dream 4 Regular"/>
              </a:rPr>
              <a:t>예</a:t>
            </a:r>
            <a:r>
              <a:rPr lang="en-US" sz="1700" b="true" i="false" u="none" strike="noStrike">
                <a:solidFill>
                  <a:srgbClr val="595959"/>
                </a:solidFill>
                <a:latin typeface="S-Core Dream 4 Regular"/>
              </a:rPr>
              <a:t>:</a:t>
            </a:r>
            <a:r>
              <a:rPr lang="en-US" sz="1700" b="false" i="false" u="none" strike="noStrike">
                <a:solidFill>
                  <a:srgbClr val="595959"/>
                </a:solidFill>
                <a:latin typeface="S-Core Dream 4 Regular"/>
              </a:rPr>
              <a:t> Tailwind CSS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73900" y="6210300"/>
            <a:ext cx="2794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5189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S-Core Dream 4 Regular"/>
              </a:rPr>
              <a:t>CSS-in-JS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12000" y="7137400"/>
            <a:ext cx="41148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JS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안에서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CSS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작성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단위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동적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props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활용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→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유연한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스타일링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번들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사이즈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증가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성능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이슈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12000" y="8724900"/>
            <a:ext cx="38735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51890"/>
              </a:lnSpc>
            </a:pPr>
            <a:r>
              <a:rPr lang="ko-KR" sz="1700" b="false" i="false" u="none" strike="noStrike">
                <a:solidFill>
                  <a:srgbClr val="595959"/>
                </a:solidFill>
                <a:ea typeface="S-Core Dream 4 Regular"/>
              </a:rPr>
              <a:t>예</a:t>
            </a:r>
            <a:r>
              <a:rPr lang="en-US" sz="1700" b="false" i="false" u="none" strike="noStrike">
                <a:solidFill>
                  <a:srgbClr val="595959"/>
                </a:solidFill>
                <a:latin typeface="S-Core Dream 4 Regular"/>
              </a:rPr>
              <a:t>: </a:t>
            </a:r>
            <a:r>
              <a:rPr lang="en-US" sz="1700" b="false" i="false" u="none" strike="noStrike">
                <a:solidFill>
                  <a:srgbClr val="595959"/>
                </a:solidFill>
                <a:latin typeface="S-Core Dream 4 Regular"/>
              </a:rPr>
              <a:t>styled-components, Emotion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23800" y="6210300"/>
            <a:ext cx="39751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5189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S-Core Dream 4 Regular"/>
              </a:rPr>
              <a:t>CSS Module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23800" y="7137400"/>
            <a:ext cx="41148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클래스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충돌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방지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단위로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격리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 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동적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제한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23800" y="8724900"/>
            <a:ext cx="38735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51890"/>
              </a:lnSpc>
            </a:pPr>
            <a:r>
              <a:rPr lang="ko-KR" sz="1700" b="true" i="false" u="none" strike="noStrike">
                <a:solidFill>
                  <a:srgbClr val="595959"/>
                </a:solidFill>
                <a:ea typeface="S-Core Dream 4 Regular"/>
              </a:rPr>
              <a:t>예</a:t>
            </a:r>
            <a:r>
              <a:rPr lang="en-US" sz="1700" b="true" i="false" u="none" strike="noStrike">
                <a:solidFill>
                  <a:srgbClr val="595959"/>
                </a:solidFill>
                <a:latin typeface="S-Core Dream 4 Regular"/>
              </a:rPr>
              <a:t>:</a:t>
            </a:r>
            <a:r>
              <a:rPr lang="en-US" sz="1700" b="false" i="false" u="none" strike="noStrike">
                <a:solidFill>
                  <a:srgbClr val="595959"/>
                </a:solidFill>
                <a:latin typeface="S-Core Dream 4 Regular"/>
              </a:rPr>
              <a:t> CSS Module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55800" y="9728200"/>
            <a:ext cx="26797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S-Core Dream 3 Light"/>
              </a:rPr>
              <a:t>+ UI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3 Light"/>
              </a:rPr>
              <a:t>컴포넌트</a:t>
            </a:r>
            <a:r>
              <a:rPr lang="en-US" sz="1800" b="false" i="false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S-Core Dream 3 Light"/>
              </a:rPr>
              <a:t>라이브러리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44400" y="7264400"/>
            <a:ext cx="6248400" cy="326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65100" y="-177800"/>
            <a:ext cx="5245100" cy="304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54100" y="2717800"/>
            <a:ext cx="5029200" cy="670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320800" y="4051300"/>
            <a:ext cx="4470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320800" y="6426200"/>
            <a:ext cx="44704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0">
            <a:off x="6400800" y="2717800"/>
            <a:ext cx="10896600" cy="6705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11300" y="3098800"/>
            <a:ext cx="3632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S-Core Dream 4 Regular"/>
              </a:rPr>
              <a:t>CSS </a:t>
            </a:r>
            <a:r>
              <a:rPr lang="ko-KR" sz="2800" b="false" i="false" u="none" strike="noStrike">
                <a:solidFill>
                  <a:srgbClr val="000000"/>
                </a:solidFill>
                <a:ea typeface="S-Core Dream 4 Regular"/>
              </a:rPr>
              <a:t>전처리기</a:t>
            </a:r>
            <a:r>
              <a:rPr lang="en-US" sz="2800" b="false" i="false" u="none" strike="noStrike">
                <a:solidFill>
                  <a:srgbClr val="000000"/>
                </a:solidFill>
                <a:latin typeface="S-Core Dream 4 Regular"/>
              </a:rPr>
              <a:t>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900" y="4533900"/>
            <a:ext cx="41148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1.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탄생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배경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(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왜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만들어졌나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?)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기존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CSS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한계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극복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→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변수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·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함수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·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중첩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문법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부족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대규모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프로젝트에서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유지보수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어려움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08800" y="3987800"/>
            <a:ext cx="42164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변수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지원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→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색상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폰트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크기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재사용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중첩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문법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→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가독성과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구조화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↑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Mixin &amp;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함수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→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반복되는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코드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재활용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Partials &amp; Import →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파일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분리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및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관리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용이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5900" y="6972300"/>
            <a:ext cx="4114800" cy="190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2.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주요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특징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변수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사용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색상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폰트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크기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재사용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중첩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문법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계층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구조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표현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Mixin &amp;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함수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반복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코드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재활용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파일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분리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&amp; Import: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모듈화로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관리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용이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300" y="977900"/>
            <a:ext cx="99568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9000" b="false" i="false" u="none" strike="noStrike" spc="-200">
                <a:solidFill>
                  <a:srgbClr val="000000"/>
                </a:solidFill>
                <a:latin typeface="Anek Bangla Expanded Medium"/>
              </a:rPr>
              <a:t>SASS(SCSS)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9118600" y="6311900"/>
            <a:ext cx="52959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79300" y="3060700"/>
            <a:ext cx="4660900" cy="3162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45300" y="7226300"/>
            <a:ext cx="4279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빌드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과정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필요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(Node-sass, Dart-sass)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JS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생태계에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비해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확장성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↓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런타임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동적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불가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8800" y="3200400"/>
            <a:ext cx="736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장점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45300" y="6540500"/>
            <a:ext cx="736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단점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15800" y="6604000"/>
            <a:ext cx="8001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000"/>
                </a:solidFill>
                <a:ea typeface="Pretendard Bold"/>
              </a:rPr>
              <a:t>빌드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Bold"/>
              </a:rPr>
              <a:t>후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157200" y="6705600"/>
            <a:ext cx="2768600" cy="2451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4109700" y="6121400"/>
            <a:ext cx="850900" cy="83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712200" y="1054100"/>
            <a:ext cx="3403600" cy="14224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511300" y="3683000"/>
            <a:ext cx="3784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787878"/>
                </a:solidFill>
                <a:latin typeface="Pretendard Regular"/>
              </a:rPr>
              <a:t>(</a:t>
            </a:r>
            <a:r>
              <a:rPr lang="ko-KR" sz="1600" b="false" i="false" u="none" strike="noStrike">
                <a:solidFill>
                  <a:srgbClr val="787878"/>
                </a:solidFill>
                <a:ea typeface="Pretendard Regular"/>
              </a:rPr>
              <a:t>컴파일러</a:t>
            </a:r>
            <a:r>
              <a:rPr lang="en-US" sz="16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787878"/>
                </a:solidFill>
                <a:ea typeface="Pretendard Regular"/>
              </a:rPr>
              <a:t>역할</a:t>
            </a:r>
            <a:r>
              <a:rPr lang="en-US" sz="1600" b="false" i="false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1600" b="false" i="false" u="none" strike="noStrike">
                <a:solidFill>
                  <a:srgbClr val="787878"/>
                </a:solidFill>
                <a:ea typeface="Pretendard Regular"/>
              </a:rPr>
              <a:t>라이브러리가</a:t>
            </a:r>
            <a:r>
              <a:rPr lang="en-US" sz="16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787878"/>
                </a:solidFill>
                <a:ea typeface="Pretendard Regular"/>
              </a:rPr>
              <a:t>아닌</a:t>
            </a:r>
            <a:r>
              <a:rPr lang="en-US" sz="16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1600" b="false" i="false" u="none" strike="noStrike">
                <a:solidFill>
                  <a:srgbClr val="787878"/>
                </a:solidFill>
                <a:ea typeface="Pretendard Regular"/>
              </a:rPr>
              <a:t>도구</a:t>
            </a:r>
            <a:r>
              <a:rPr lang="en-US" sz="1600" b="false" i="false" u="none" strike="noStrike">
                <a:solidFill>
                  <a:srgbClr val="787878"/>
                </a:solidFill>
                <a:latin typeface="Pretendard Regular"/>
              </a:rPr>
              <a:t>(tool)!)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44400" y="7264400"/>
            <a:ext cx="6248400" cy="326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65100" y="-177800"/>
            <a:ext cx="5245100" cy="304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41400" y="2717800"/>
            <a:ext cx="5029200" cy="670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320800" y="3873500"/>
            <a:ext cx="4470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320800" y="6451600"/>
            <a:ext cx="44704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0">
            <a:off x="6400800" y="2717800"/>
            <a:ext cx="10896600" cy="6705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11300" y="3200400"/>
            <a:ext cx="3746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S-Core Dream 4 Regular"/>
              </a:rPr>
              <a:t>Utility-first </a:t>
            </a:r>
            <a:r>
              <a:rPr lang="ko-KR" sz="2800" b="false" i="false" u="none" strike="noStrike">
                <a:solidFill>
                  <a:srgbClr val="000000"/>
                </a:solidFill>
                <a:ea typeface="S-Core Dream 4 Regular"/>
              </a:rPr>
              <a:t>프레임워크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0800" y="4216400"/>
            <a:ext cx="4114800" cy="190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1.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탄생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배경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(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왜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만들어졌나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?)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기존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CSS: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클래스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네이밍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부담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(BEM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)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CSS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파일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분리로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인해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단위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관리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어려움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빠른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프로토타이핑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&amp;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일관된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필요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5900" y="6794500"/>
            <a:ext cx="4622800" cy="231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2.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주요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특징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Utility-first: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미리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정의된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유틸리티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클래스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제공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빠른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개발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속도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HTML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내에서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바로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작성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커스터마이즈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tailwind.config.js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테마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설정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반응형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&amp;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다크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모드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기본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지원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300" y="977900"/>
            <a:ext cx="99568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9000" b="false" i="false" u="none" strike="noStrike" spc="-200">
                <a:solidFill>
                  <a:srgbClr val="000000"/>
                </a:solidFill>
                <a:latin typeface="Anek Bangla Expanded Medium"/>
              </a:rPr>
              <a:t>Tailwind CSS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9118600" y="6311900"/>
            <a:ext cx="52959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950200" y="3302000"/>
            <a:ext cx="7518400" cy="3149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09100" y="939800"/>
            <a:ext cx="2286000" cy="1397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2500" y="7747000"/>
            <a:ext cx="4279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클래스명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길어져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가독성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↓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초반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학습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곡선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있음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직접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커스텀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다소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복잡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2500" y="7061200"/>
            <a:ext cx="736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단점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16800" y="7848600"/>
            <a:ext cx="42164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빠른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UI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구현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일관된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디자인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유지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반응형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·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테마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지원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54900" y="7023100"/>
            <a:ext cx="736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장점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44400" y="7264400"/>
            <a:ext cx="6248400" cy="326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65100" y="-177800"/>
            <a:ext cx="5245100" cy="304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41400" y="2717800"/>
            <a:ext cx="5029200" cy="670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320800" y="3873500"/>
            <a:ext cx="4470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320800" y="6451600"/>
            <a:ext cx="44704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0">
            <a:off x="6400800" y="2717800"/>
            <a:ext cx="10896600" cy="6705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11300" y="3200400"/>
            <a:ext cx="3746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S-Core Dream 4 Regular"/>
              </a:rPr>
              <a:t>CSS-in-JS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0800" y="4216400"/>
            <a:ext cx="4114800" cy="190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1.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탄생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배경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(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왜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만들어졌나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?)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CSS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와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JS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분리로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인한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관리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어려움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클래스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네이밍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충돌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문제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(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전역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스코프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)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단위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개발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흐름에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맞는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필요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0800" y="6858000"/>
            <a:ext cx="4622800" cy="190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2.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주요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특징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CSS-in-JS: JS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파일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안에서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CSS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작성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Scoped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단위로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적용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동적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props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에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따라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변경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자동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벤더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프리픽스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처리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300" y="977900"/>
            <a:ext cx="133731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9000" b="false" i="false" u="none" strike="noStrike" spc="-200">
                <a:solidFill>
                  <a:srgbClr val="000000"/>
                </a:solidFill>
                <a:latin typeface="Anek Bangla Expanded Medium"/>
              </a:rPr>
              <a:t>Styled-components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9118600" y="6311900"/>
            <a:ext cx="52959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648700" y="3175000"/>
            <a:ext cx="5842000" cy="3581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703300" y="901700"/>
            <a:ext cx="1676400" cy="1676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2500" y="7747000"/>
            <a:ext cx="4279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러닝타임에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생성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→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성능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이슈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번들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사이즈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증가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우려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빌드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/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디버깅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다소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불편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2500" y="7061200"/>
            <a:ext cx="736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단점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16800" y="7823200"/>
            <a:ext cx="42164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단위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관리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용이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클래스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충돌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없음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props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기반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동적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54900" y="7048500"/>
            <a:ext cx="736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장점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44400" y="7264400"/>
            <a:ext cx="6248400" cy="326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65100" y="-177800"/>
            <a:ext cx="5245100" cy="304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0">
            <a:off x="1041400" y="2717800"/>
            <a:ext cx="5029200" cy="689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295400" y="3873500"/>
            <a:ext cx="4470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295400" y="6845300"/>
            <a:ext cx="44704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0">
            <a:off x="6400800" y="2717800"/>
            <a:ext cx="10896600" cy="6896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11300" y="3200400"/>
            <a:ext cx="3632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S-Core Dream 4 Regular"/>
              </a:rPr>
              <a:t>CSS </a:t>
            </a:r>
            <a:r>
              <a:rPr lang="ko-KR" sz="2800" b="false" i="false" u="none" strike="noStrike">
                <a:solidFill>
                  <a:srgbClr val="000000"/>
                </a:solidFill>
                <a:ea typeface="S-Core Dream 4 Regular"/>
              </a:rPr>
              <a:t>프레임워크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1300" y="4025900"/>
            <a:ext cx="4140200" cy="273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1.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탄생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배경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(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왜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만들어졌나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?)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트위터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개발자들이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내부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툴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UI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빠르게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통일하기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위해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제작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웹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표준화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부족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→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일관된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UI &amp;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반응형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지원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필요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디자이너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없이도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개발자가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쉽게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UI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구현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가능하도록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등장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1300" y="7099300"/>
            <a:ext cx="4597400" cy="231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2.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주요</a:t>
            </a:r>
            <a:r>
              <a:rPr lang="en-US" sz="1600" b="tru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true" i="false" u="none" strike="noStrike">
                <a:solidFill>
                  <a:srgbClr val="595959"/>
                </a:solidFill>
                <a:ea typeface="S-Core Dream 3 Light"/>
              </a:rPr>
              <a:t>특징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그리드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시스템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반응형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레이아웃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손쉽게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구현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풍부한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버튼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모달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네비게이션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기본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제공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일관된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디자인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: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기본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테마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&amp;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가이드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내장</a:t>
            </a:r>
          </a:p>
          <a:p>
            <a:pPr algn="l" lvl="1">
              <a:lnSpc>
                <a:spcPct val="16600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300" y="977900"/>
            <a:ext cx="133477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9000" b="false" i="false" u="none" strike="noStrike" spc="-200">
                <a:solidFill>
                  <a:srgbClr val="000000"/>
                </a:solidFill>
                <a:latin typeface="Anek Bangla Expanded Medium"/>
              </a:rPr>
              <a:t>BootStrap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9118600" y="6311900"/>
            <a:ext cx="5295900" cy="12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51900" y="2946400"/>
            <a:ext cx="5486400" cy="386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861300" y="1054100"/>
            <a:ext cx="2057400" cy="1371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382500" y="7747000"/>
            <a:ext cx="4279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개성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없는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“Bootstrap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”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지적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커스터마이즈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CSS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오버라이드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필요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코드가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다소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무거워질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수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있음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2500" y="7061200"/>
            <a:ext cx="736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단점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16800" y="7823200"/>
            <a:ext cx="42164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빠른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UI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개발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가능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반응형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레이아웃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기본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지원</a:t>
            </a:r>
          </a:p>
          <a:p>
            <a:pPr algn="l" lvl="0" indent="-342900" marL="342900">
              <a:lnSpc>
                <a:spcPct val="16600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풍부한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문서</a:t>
            </a:r>
            <a:r>
              <a:rPr lang="en-US" sz="1600" b="false" i="false" u="none" strike="noStrike">
                <a:solidFill>
                  <a:srgbClr val="595959"/>
                </a:solidFill>
                <a:latin typeface="S-Core Dream 3 Light"/>
              </a:rPr>
              <a:t> &amp; </a:t>
            </a:r>
            <a:r>
              <a:rPr lang="ko-KR" sz="1600" b="false" i="false" u="none" strike="noStrike">
                <a:solidFill>
                  <a:srgbClr val="595959"/>
                </a:solidFill>
                <a:ea typeface="S-Core Dream 3 Light"/>
              </a:rPr>
              <a:t>커뮤니티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54900" y="7048500"/>
            <a:ext cx="736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장점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000" y="-101600"/>
            <a:ext cx="9448800" cy="2425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04500" y="-241300"/>
            <a:ext cx="7937500" cy="668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47800" y="2654300"/>
          <a:ext cx="15392400" cy="7099300"/>
        </p:xfrm>
        <a:graphic>
          <a:graphicData uri="http://schemas.openxmlformats.org/drawingml/2006/table">
            <a:tbl>
              <a:tblPr/>
              <a:tblGrid>
                <a:gridCol w="3187700"/>
                <a:gridCol w="2374900"/>
                <a:gridCol w="2971800"/>
                <a:gridCol w="3556000"/>
                <a:gridCol w="3302000"/>
              </a:tblGrid>
              <a:tr h="12573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fals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tru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분류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tru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장점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tru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단점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tru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추천</a:t>
                      </a:r>
                      <a:r>
                        <a:rPr lang="en-US" sz="2700" b="tru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700" b="tru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상황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485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true" i="false" u="none" strike="noStrike">
                          <a:solidFill>
                            <a:srgbClr val="515151"/>
                          </a:solidFill>
                          <a:latin typeface="NanumSquare Bold"/>
                        </a:rPr>
                        <a:t>SASS(SCSS)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E1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CSS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전처리기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변수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,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중첩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,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믹스인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→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유지보수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↑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빌드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필요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, JS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연동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한계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대규모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프로젝트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, 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기존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CSS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개선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원할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때</a:t>
                      </a:r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51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true" i="false" u="none" strike="noStrike">
                          <a:solidFill>
                            <a:srgbClr val="515151"/>
                          </a:solidFill>
                          <a:latin typeface="NanumSquare Bold"/>
                        </a:rPr>
                        <a:t>Tailwind CSS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E1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Utility-first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빠른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개발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클래스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남용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가독성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프로토타입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85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true" i="false" u="none" strike="noStrike">
                          <a:solidFill>
                            <a:srgbClr val="515151"/>
                          </a:solidFill>
                          <a:latin typeface="NanumSquare Bold"/>
                        </a:rPr>
                        <a:t>styled-components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E1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CSS-in-JS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컴포넌트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단위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관리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번들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사이즈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↑,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러닝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커브</a:t>
                      </a:r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React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기반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프로젝트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, 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스타일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충돌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방지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필요</a:t>
                      </a:r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51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true" i="false" u="none" strike="noStrike">
                          <a:solidFill>
                            <a:srgbClr val="515151"/>
                          </a:solidFill>
                          <a:latin typeface="NanumSquare Bold"/>
                        </a:rPr>
                        <a:t>Bootstrap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E1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CSS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프레임워크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풍부한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컴포넌트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,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반응형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지원</a:t>
                      </a:r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디자인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개성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부족</a:t>
                      </a:r>
                      <a:endParaRPr lang="en-US" sz="1100"/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빠른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프로토타입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, 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기본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UI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필요할</a:t>
                      </a:r>
                      <a:r>
                        <a:rPr lang="en-US" sz="2700" b="false" i="false" u="none" strike="noStrike">
                          <a:solidFill>
                            <a:srgbClr val="515151"/>
                          </a:solidFill>
                          <a:latin typeface="NanumSquare Regular"/>
                        </a:rPr>
                        <a:t> </a:t>
                      </a:r>
                      <a:r>
                        <a:rPr lang="ko-KR" sz="2700" b="false" i="false" u="none" strike="noStrike">
                          <a:solidFill>
                            <a:srgbClr val="515151"/>
                          </a:solidFill>
                          <a:ea typeface="NanumSquare Regular"/>
                        </a:rPr>
                        <a:t>때</a:t>
                      </a:r>
                    </a:p>
                  </a:txBody>
                  <a:tcPr anchor="ctr" marL="19050" marT="19050" marR="19050" marB="19050">
                    <a:lnL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5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03300" y="977900"/>
            <a:ext cx="136271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ko-KR" sz="8600" b="false" i="false" u="none" strike="noStrike" spc="-200">
                <a:solidFill>
                  <a:srgbClr val="000000"/>
                </a:solidFill>
                <a:ea typeface="S-Core Dream 7 ExtraBold"/>
              </a:rPr>
              <a:t>비교</a:t>
            </a:r>
            <a:r>
              <a:rPr lang="en-US" sz="8600" b="false" i="false" u="none" strike="noStrike" spc="-200">
                <a:solidFill>
                  <a:srgbClr val="000000"/>
                </a:solidFill>
                <a:latin typeface="S-Core Dream 7 ExtraBold"/>
              </a:rPr>
              <a:t> &amp; </a:t>
            </a:r>
            <a:r>
              <a:rPr lang="ko-KR" sz="8600" b="false" i="false" u="none" strike="noStrike" spc="-200">
                <a:solidFill>
                  <a:srgbClr val="000000"/>
                </a:solidFill>
                <a:ea typeface="S-Core Dream 7 ExtraBold"/>
              </a:rPr>
              <a:t>선택</a:t>
            </a:r>
            <a:r>
              <a:rPr lang="en-US" sz="8600" b="false" i="false" u="none" strike="noStrike" spc="-20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8600" b="false" i="false" u="none" strike="noStrike" spc="-200">
                <a:solidFill>
                  <a:srgbClr val="000000"/>
                </a:solidFill>
                <a:ea typeface="S-Core Dream 7 ExtraBold"/>
              </a:rPr>
              <a:t>기준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46700" y="2806700"/>
            <a:ext cx="36195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59900" y="2794000"/>
            <a:ext cx="3619500" cy="662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335000" y="2794000"/>
            <a:ext cx="3619500" cy="662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3500" y="2806700"/>
            <a:ext cx="3619500" cy="662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21800" y="-203200"/>
            <a:ext cx="8788400" cy="204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44400" y="-215900"/>
            <a:ext cx="6159500" cy="5892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3111500"/>
            <a:ext cx="3060700" cy="306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26100" y="3111500"/>
            <a:ext cx="3060700" cy="306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639300" y="3111500"/>
            <a:ext cx="3060700" cy="306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614400" y="3111500"/>
            <a:ext cx="3060700" cy="3060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663700" y="7391400"/>
            <a:ext cx="29591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5676900" y="7391400"/>
            <a:ext cx="29591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9690100" y="7391400"/>
            <a:ext cx="29591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3665200" y="7391400"/>
            <a:ext cx="2959100" cy="12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159000" y="6388100"/>
            <a:ext cx="19685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7149"/>
              </a:lnSpc>
            </a:pPr>
            <a:r>
              <a:rPr lang="en-US" sz="1900" b="false" i="false" u="none" strike="noStrike" spc="-100">
                <a:solidFill>
                  <a:srgbClr val="000000"/>
                </a:solidFill>
                <a:latin typeface="Anek Bangla Expanded ExtraLight"/>
              </a:rPr>
              <a:t>Utility-first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5000" y="6807200"/>
            <a:ext cx="2463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189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Tailwind CSS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65300" y="7721600"/>
            <a:ext cx="2794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Utility-first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방식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클래스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조합</a:t>
            </a:r>
          </a:p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빠른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개발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일관성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유지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26200" y="6388100"/>
            <a:ext cx="1485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7149"/>
              </a:lnSpc>
            </a:pPr>
            <a:r>
              <a:rPr lang="en-US" sz="1900" b="false" i="false" u="none" strike="noStrike" spc="-100">
                <a:solidFill>
                  <a:srgbClr val="000000"/>
                </a:solidFill>
                <a:latin typeface="Anek Bangla Expanded ExtraLight"/>
              </a:rPr>
              <a:t>CSS-in-JS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38800" y="6807200"/>
            <a:ext cx="307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189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styled-components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38800" y="7721600"/>
            <a:ext cx="3086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CSS-in-JS,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단위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</a:p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동적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props,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충돌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방지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26700" y="6388100"/>
            <a:ext cx="1485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7149"/>
              </a:lnSpc>
            </a:pPr>
            <a:r>
              <a:rPr lang="en-US" sz="1900" b="false" i="false" u="none" strike="noStrike" spc="-100">
                <a:solidFill>
                  <a:srgbClr val="000000"/>
                </a:solidFill>
                <a:latin typeface="Anek Bangla Expanded ExtraLight"/>
              </a:rPr>
              <a:t>CSS-in-JS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31400" y="6807200"/>
            <a:ext cx="2463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189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Emotion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38300" y="6388100"/>
            <a:ext cx="16383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7149"/>
              </a:lnSpc>
            </a:pPr>
            <a:r>
              <a:rPr lang="en-US" sz="1900" b="false" i="false" u="none" strike="noStrike" spc="-100">
                <a:solidFill>
                  <a:srgbClr val="000000"/>
                </a:solidFill>
                <a:latin typeface="Anek Bangla Expanded ExtraLight"/>
              </a:rPr>
              <a:t>CSS </a:t>
            </a:r>
            <a:r>
              <a:rPr lang="ko-KR" sz="1900" b="false" i="false" u="none" strike="noStrike" spc="-100">
                <a:solidFill>
                  <a:srgbClr val="000000"/>
                </a:solidFill>
                <a:ea typeface="Anek Bangla Expanded ExtraLight"/>
              </a:rPr>
              <a:t>전처리기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19200" y="6807200"/>
            <a:ext cx="2463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189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SCSS (Sass)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3300" y="990600"/>
            <a:ext cx="108458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9000" b="false" i="false" u="none" strike="noStrike" spc="-200">
                <a:solidFill>
                  <a:srgbClr val="000000"/>
                </a:solidFill>
                <a:latin typeface="S-Core Dream 7 ExtraBold"/>
              </a:rPr>
              <a:t>CSS </a:t>
            </a:r>
            <a:r>
              <a:rPr lang="ko-KR" sz="9000" b="false" i="false" u="none" strike="noStrike" spc="-200">
                <a:solidFill>
                  <a:srgbClr val="000000"/>
                </a:solidFill>
                <a:ea typeface="S-Core Dream 7 ExtraBold"/>
              </a:rPr>
              <a:t>라이브러리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80600" y="7721600"/>
            <a:ext cx="2616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CSS-in-JS,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성능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최적화</a:t>
            </a:r>
          </a:p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css prop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지원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, TS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친화적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92200" y="7721600"/>
            <a:ext cx="29083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CSS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전처리기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변수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·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중첩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지원</a:t>
            </a:r>
          </a:p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유지보수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용이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복잡한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스타일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구조</a:t>
            </a:r>
            <a:r>
              <a:rPr lang="en-US" sz="15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500" b="false" i="false" u="none" strike="noStrike">
                <a:solidFill>
                  <a:srgbClr val="595959"/>
                </a:solidFill>
                <a:ea typeface="S-Core Dream 3 Light"/>
              </a:rPr>
              <a:t>관리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46700" y="2806700"/>
            <a:ext cx="3619500" cy="662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59900" y="2794000"/>
            <a:ext cx="3619500" cy="662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335000" y="2794000"/>
            <a:ext cx="3619500" cy="662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3500" y="2806700"/>
            <a:ext cx="3619500" cy="662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21800" y="-203200"/>
            <a:ext cx="8788400" cy="204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44400" y="-215900"/>
            <a:ext cx="6159500" cy="5892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3300" y="736600"/>
            <a:ext cx="16281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" y="3111500"/>
            <a:ext cx="3060700" cy="306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26100" y="3111500"/>
            <a:ext cx="3060700" cy="306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639300" y="3111500"/>
            <a:ext cx="3060700" cy="306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614400" y="3111500"/>
            <a:ext cx="3060700" cy="3060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663700" y="7391400"/>
            <a:ext cx="29591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5676900" y="7391400"/>
            <a:ext cx="29591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9690100" y="7391400"/>
            <a:ext cx="29591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3665200" y="7391400"/>
            <a:ext cx="2959100" cy="12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400300" y="6388100"/>
            <a:ext cx="1485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7149"/>
              </a:lnSpc>
            </a:pPr>
            <a:r>
              <a:rPr lang="en-US" sz="1900" b="false" i="false" u="none" strike="noStrike" spc="-100">
                <a:solidFill>
                  <a:srgbClr val="000000"/>
                </a:solidFill>
                <a:latin typeface="Anek Bangla Expanded ExtraLight"/>
              </a:rPr>
              <a:t>UI </a:t>
            </a:r>
            <a:r>
              <a:rPr lang="ko-KR" sz="1900" b="false" i="false" u="none" strike="noStrike" spc="-100">
                <a:solidFill>
                  <a:srgbClr val="000000"/>
                </a:solidFill>
                <a:ea typeface="Anek Bangla Expanded ExtraLight"/>
              </a:rPr>
              <a:t>컴포넌트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5000" y="6807200"/>
            <a:ext cx="2463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189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Chakra UI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65300" y="7772400"/>
            <a:ext cx="2794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React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전용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직관적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props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스타일링</a:t>
            </a:r>
          </a:p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접근성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지원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빠른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개발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35700" y="6388100"/>
            <a:ext cx="1854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7149"/>
              </a:lnSpc>
            </a:pPr>
            <a:r>
              <a:rPr lang="en-US" sz="1900" b="false" i="false" u="none" strike="noStrike" spc="-100">
                <a:solidFill>
                  <a:srgbClr val="000000"/>
                </a:solidFill>
                <a:latin typeface="Anek Bangla Expanded ExtraLight"/>
              </a:rPr>
              <a:t>CSS </a:t>
            </a:r>
            <a:r>
              <a:rPr lang="ko-KR" sz="1900" b="false" i="false" u="none" strike="noStrike" spc="-100">
                <a:solidFill>
                  <a:srgbClr val="000000"/>
                </a:solidFill>
                <a:ea typeface="Anek Bangla Expanded ExtraLight"/>
              </a:rPr>
              <a:t>프레임워크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38800" y="6807200"/>
            <a:ext cx="3073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189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Bootstrap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92800" y="7772400"/>
            <a:ext cx="2552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가장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대중적인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CSS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프레임워크</a:t>
            </a:r>
          </a:p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그리드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·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반응형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레이아웃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제공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26700" y="6388100"/>
            <a:ext cx="1485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7149"/>
              </a:lnSpc>
            </a:pPr>
            <a:r>
              <a:rPr lang="en-US" sz="1900" b="false" i="false" u="none" strike="noStrike" spc="-100">
                <a:solidFill>
                  <a:srgbClr val="000000"/>
                </a:solidFill>
                <a:latin typeface="Anek Bangla Expanded ExtraLight"/>
              </a:rPr>
              <a:t>UI </a:t>
            </a:r>
            <a:r>
              <a:rPr lang="ko-KR" sz="1900" b="false" i="false" u="none" strike="noStrike" spc="-100">
                <a:solidFill>
                  <a:srgbClr val="000000"/>
                </a:solidFill>
                <a:ea typeface="Anek Bangla Expanded ExtraLight"/>
              </a:rPr>
              <a:t>컴포넌트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31400" y="6807200"/>
            <a:ext cx="2463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189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Shadcn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29800" y="7772400"/>
            <a:ext cx="2717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Tailwind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기반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최신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UI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패턴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제공</a:t>
            </a:r>
          </a:p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유연한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커스터마이즈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모던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디자인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14500" y="6388100"/>
            <a:ext cx="1485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87149"/>
              </a:lnSpc>
            </a:pPr>
            <a:r>
              <a:rPr lang="en-US" sz="1900" b="false" i="false" u="none" strike="noStrike" spc="-100">
                <a:solidFill>
                  <a:srgbClr val="000000"/>
                </a:solidFill>
                <a:latin typeface="Anek Bangla Expanded ExtraLight"/>
              </a:rPr>
              <a:t>UI </a:t>
            </a:r>
            <a:r>
              <a:rPr lang="ko-KR" sz="1900" b="false" i="false" u="none" strike="noStrike" spc="-100">
                <a:solidFill>
                  <a:srgbClr val="000000"/>
                </a:solidFill>
                <a:ea typeface="Anek Bangla Expanded ExtraLight"/>
              </a:rPr>
              <a:t>컴포넌트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30300" y="6819900"/>
            <a:ext cx="26416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189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S-Core Dream 4 Regular"/>
              </a:rPr>
              <a:t>Material UI (MUI)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08100" y="7772400"/>
            <a:ext cx="2324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구글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머티리얼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디자인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구현</a:t>
            </a:r>
          </a:p>
          <a:p>
            <a:pPr algn="l" lvl="0" indent="-342900" marL="342900">
              <a:lnSpc>
                <a:spcPct val="1444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풍부한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컴포넌트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, </a:t>
            </a:r>
            <a:r>
              <a:rPr lang="ko-KR" sz="1300" b="false" i="false" u="none" strike="noStrike">
                <a:solidFill>
                  <a:srgbClr val="595959"/>
                </a:solidFill>
                <a:ea typeface="S-Core Dream 3 Light"/>
              </a:rPr>
              <a:t>생산성</a:t>
            </a:r>
            <a:r>
              <a:rPr lang="en-US" sz="1300" b="false" i="false" u="none" strike="noStrike">
                <a:solidFill>
                  <a:srgbClr val="595959"/>
                </a:solidFill>
                <a:latin typeface="S-Core Dream 3 Light"/>
              </a:rPr>
              <a:t> ↑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3300" y="990600"/>
            <a:ext cx="108458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7149"/>
              </a:lnSpc>
            </a:pPr>
            <a:r>
              <a:rPr lang="en-US" sz="9000" b="false" i="false" u="none" strike="noStrike" spc="-200">
                <a:solidFill>
                  <a:srgbClr val="000000"/>
                </a:solidFill>
                <a:latin typeface="S-Core Dream 7 ExtraBold"/>
              </a:rPr>
              <a:t>CSS </a:t>
            </a:r>
            <a:r>
              <a:rPr lang="ko-KR" sz="9000" b="false" i="false" u="none" strike="noStrike" spc="-200">
                <a:solidFill>
                  <a:srgbClr val="000000"/>
                </a:solidFill>
                <a:ea typeface="S-Core Dream 7 ExtraBold"/>
              </a:rPr>
              <a:t>라이브러리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243300" y="444500"/>
            <a:ext cx="1143000" cy="21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2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3300" y="457200"/>
            <a:ext cx="2387600" cy="19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100" b="false" i="false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229600" y="-127000"/>
            <a:ext cx="10350500" cy="1061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56200" y="6438900"/>
            <a:ext cx="11442700" cy="415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3300" y="1714500"/>
            <a:ext cx="16281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76300" y="6172200"/>
            <a:ext cx="15519400" cy="167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81339"/>
              </a:lnSpc>
            </a:pPr>
            <a:r>
              <a:rPr lang="en-US" sz="13500" b="false" i="false" u="none" strike="noStrike" spc="-400">
                <a:solidFill>
                  <a:srgbClr val="000000"/>
                </a:solidFill>
                <a:latin typeface="Anek Bangla Expanded Medium"/>
              </a:rPr>
              <a:t>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14800" y="711200"/>
            <a:ext cx="7620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S-Core Dream 5 Medium"/>
              </a:rPr>
              <a:t>E-mail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14800" y="1054100"/>
            <a:ext cx="22733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S-Core Dream 3 Light"/>
              </a:rPr>
              <a:t>miriedu@company.com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3300" y="711200"/>
            <a:ext cx="9906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S-Core Dream 5 Medium"/>
              </a:rPr>
              <a:t>Website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3300" y="1054100"/>
            <a:ext cx="2400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S-Core Dream 3 Light"/>
              </a:rPr>
              <a:t>www.miricanvas.com</a:t>
            </a:r>
          </a:p>
        </p:txBody>
      </p:sp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532100" y="736600"/>
            <a:ext cx="1739900" cy="52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824200" y="863600"/>
            <a:ext cx="1155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