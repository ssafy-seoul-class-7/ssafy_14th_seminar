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8288000" cy="10287000"/>
  <p:notesSz cx="6858000" cy="9144000"/>
  <p:embeddedFontLst>
    <p:embeddedFont>
      <p:font typeface="TDTD순고딕" charset="1" panose="02000603000000000000"/>
      <p:regular r:id="rId29"/>
    </p:embeddedFont>
    <p:embeddedFont>
      <p:font typeface="Tlab 레트로라이프" charset="1" panose="02000600000000000000"/>
      <p:regular r:id="rId30"/>
    </p:embeddedFont>
    <p:embeddedFont>
      <p:font typeface="Tlab 레트로라이프 Bold" charset="1" panose="02000800000000000000"/>
      <p:regular r:id="rId31"/>
    </p:embeddedFont>
    <p:embeddedFont>
      <p:font typeface="TDTD한강고딕" charset="1" panose="02000503000000000000"/>
      <p:regular r:id="rId32"/>
    </p:embeddedFont>
    <p:embeddedFont>
      <p:font typeface="TDTD순고딕 Bold" charset="1" panose="02000803000000000000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Relationship Id="rId8" Target="https://github.com/jonghwankoh/java-practice" TargetMode="External" Type="http://schemas.openxmlformats.org/officeDocument/2006/relationships/hyperlink"/><Relationship Id="rId9" Target="../media/image1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9.pn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0.png" Type="http://schemas.openxmlformats.org/officeDocument/2006/relationships/image"/><Relationship Id="rId7" Target="../media/image2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2.png" Type="http://schemas.openxmlformats.org/officeDocument/2006/relationships/image"/><Relationship Id="rId7" Target="../media/image23.pn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4.png" Type="http://schemas.openxmlformats.org/officeDocument/2006/relationships/image"/><Relationship Id="rId7" Target="../media/image25.pn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6.png" Type="http://schemas.openxmlformats.org/officeDocument/2006/relationships/image"/><Relationship Id="rId7" Target="../media/image27.pn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8.png" Type="http://schemas.openxmlformats.org/officeDocument/2006/relationships/image"/><Relationship Id="rId7" Target="../media/image29.pn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9.png" Type="http://schemas.openxmlformats.org/officeDocument/2006/relationships/image"/><Relationship Id="rId7" Target="../media/image30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31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32.png" Type="http://schemas.openxmlformats.org/officeDocument/2006/relationships/image"/><Relationship Id="rId7" Target="../media/image33.pn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34.png" Type="http://schemas.openxmlformats.org/officeDocument/2006/relationships/image"/><Relationship Id="rId7" Target="../media/image35.png" Type="http://schemas.openxmlformats.org/officeDocument/2006/relationships/image"/><Relationship Id="rId8" Target="../media/image36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37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38.png" Type="http://schemas.openxmlformats.org/officeDocument/2006/relationships/image"/><Relationship Id="rId7" Target="../media/image3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62856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8584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028700" y="1041400"/>
            <a:ext cx="2975373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-42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SSAFY 7반 세미나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006053" y="5531960"/>
            <a:ext cx="8275894" cy="132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15"/>
              </a:lnSpc>
            </a:pPr>
            <a:r>
              <a:rPr lang="en-US" sz="7796" spc="-163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JAVA 개발해보기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647037" y="3668060"/>
            <a:ext cx="8993926" cy="200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440"/>
              </a:lnSpc>
            </a:pPr>
            <a:r>
              <a:rPr lang="en-US" sz="11743">
                <a:solidFill>
                  <a:srgbClr val="8CB791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IDE 없이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039145" y="8850757"/>
            <a:ext cx="2842313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-42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고종환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62856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8584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8228016" y="3177112"/>
            <a:ext cx="818710" cy="703579"/>
            <a:chOff x="0" y="0"/>
            <a:chExt cx="812800" cy="6985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85849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114300" y="-47625"/>
              <a:ext cx="5842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72707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01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228016" y="6832217"/>
            <a:ext cx="818710" cy="703579"/>
            <a:chOff x="0" y="0"/>
            <a:chExt cx="812800" cy="698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628566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114300" y="-47625"/>
              <a:ext cx="5842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72707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05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228016" y="4092830"/>
            <a:ext cx="818710" cy="703579"/>
            <a:chOff x="0" y="0"/>
            <a:chExt cx="812800" cy="6985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628566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114300" y="-47625"/>
              <a:ext cx="5842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72707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02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8228016" y="7745346"/>
            <a:ext cx="818710" cy="703579"/>
            <a:chOff x="0" y="0"/>
            <a:chExt cx="812800" cy="6985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628566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114300" y="-47625"/>
              <a:ext cx="5842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72707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06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228016" y="5005959"/>
            <a:ext cx="818710" cy="703579"/>
            <a:chOff x="0" y="0"/>
            <a:chExt cx="812800" cy="6985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628566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114300" y="-47625"/>
              <a:ext cx="5842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72707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03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8228016" y="5919088"/>
            <a:ext cx="818710" cy="703579"/>
            <a:chOff x="0" y="0"/>
            <a:chExt cx="812800" cy="6985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628566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114300" y="-47625"/>
              <a:ext cx="5842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727070"/>
                  </a:solidFill>
                  <a:latin typeface="Tlab 레트로라이프"/>
                  <a:ea typeface="Tlab 레트로라이프"/>
                  <a:cs typeface="Tlab 레트로라이프"/>
                  <a:sym typeface="Tlab 레트로라이프"/>
                </a:rPr>
                <a:t>04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2017519" y="1778383"/>
            <a:ext cx="3481325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sz="7200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목차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268382" y="3272346"/>
            <a:ext cx="3870726" cy="455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3"/>
              </a:lnSpc>
            </a:pPr>
            <a:r>
              <a:rPr lang="en-US" sz="2673">
                <a:solidFill>
                  <a:srgbClr val="658C6A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기본 개념 정리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265801" y="6927451"/>
            <a:ext cx="4834084" cy="455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3"/>
              </a:lnSpc>
            </a:pPr>
            <a:r>
              <a:rPr lang="en-US" sz="2673">
                <a:solidFill>
                  <a:srgbClr val="658C6A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실습 4: 과제 코드 실행해보기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268382" y="4188064"/>
            <a:ext cx="3870726" cy="455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3"/>
              </a:lnSpc>
            </a:pPr>
            <a:r>
              <a:rPr lang="en-US" sz="2673">
                <a:solidFill>
                  <a:srgbClr val="658C6A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실습 1: Hello World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268382" y="5100394"/>
            <a:ext cx="3870726" cy="455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3"/>
              </a:lnSpc>
            </a:pPr>
            <a:r>
              <a:rPr lang="en-US" sz="2673">
                <a:solidFill>
                  <a:srgbClr val="658C6A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실습 2: src, bin 분리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268382" y="6012725"/>
            <a:ext cx="3870726" cy="455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3"/>
              </a:lnSpc>
            </a:pPr>
            <a:r>
              <a:rPr lang="en-US" sz="2673">
                <a:solidFill>
                  <a:srgbClr val="658C6A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실습 3: 외부 라이브러리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265801" y="7840580"/>
            <a:ext cx="3799314" cy="455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3"/>
              </a:lnSpc>
            </a:pPr>
            <a:r>
              <a:rPr lang="en-US" sz="2673">
                <a:solidFill>
                  <a:srgbClr val="658C6A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정리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62856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8584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6079203" y="4122191"/>
            <a:ext cx="6129594" cy="2537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388620" lvl="1">
              <a:lnSpc>
                <a:spcPts val="5040"/>
              </a:lnSpc>
              <a:buAutoNum type="arabicPeriod" startAt="1"/>
            </a:pPr>
            <a:r>
              <a:rPr lang="en-US" sz="3600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JVM, JDK, JRE</a:t>
            </a:r>
          </a:p>
          <a:p>
            <a:pPr algn="l" marL="777240" indent="-388620" lvl="1">
              <a:lnSpc>
                <a:spcPts val="5040"/>
              </a:lnSpc>
              <a:buAutoNum type="arabicPeriod" startAt="1"/>
            </a:pPr>
            <a:r>
              <a:rPr lang="en-US" sz="3600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명령어: javac, java</a:t>
            </a:r>
          </a:p>
          <a:p>
            <a:pPr algn="l" marL="777240" indent="-388620" lvl="1">
              <a:lnSpc>
                <a:spcPts val="5040"/>
              </a:lnSpc>
              <a:buAutoNum type="arabicPeriod" startAt="1"/>
            </a:pPr>
            <a:r>
              <a:rPr lang="en-US" sz="3600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Classpath</a:t>
            </a:r>
          </a:p>
          <a:p>
            <a:pPr algn="l" marL="777240" indent="-388620" lvl="1">
              <a:lnSpc>
                <a:spcPts val="5040"/>
              </a:lnSpc>
              <a:buAutoNum type="arabicPeriod" startAt="1"/>
            </a:pPr>
            <a:r>
              <a:rPr lang="en-US" sz="3600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JAR 파일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381214" y="1268095"/>
            <a:ext cx="6110274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기본 개념 정리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822669" y="1046162"/>
            <a:ext cx="2048120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7200" b="true">
                <a:solidFill>
                  <a:srgbClr val="8CB791">
                    <a:alpha val="73725"/>
                  </a:srgbClr>
                </a:solidFill>
                <a:latin typeface="Tlab 레트로라이프 Bold"/>
                <a:ea typeface="Tlab 레트로라이프 Bold"/>
                <a:cs typeface="Tlab 레트로라이프 Bold"/>
                <a:sym typeface="Tlab 레트로라이프 Bold"/>
              </a:rPr>
              <a:t>01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62856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8584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2287167" y="3330128"/>
            <a:ext cx="6163145" cy="4483688"/>
          </a:xfrm>
          <a:custGeom>
            <a:avLst/>
            <a:gdLst/>
            <a:ahLst/>
            <a:cxnLst/>
            <a:rect r="r" b="b" t="t" l="l"/>
            <a:pathLst>
              <a:path h="4483688" w="6163145">
                <a:moveTo>
                  <a:pt x="0" y="0"/>
                </a:moveTo>
                <a:lnTo>
                  <a:pt x="6163145" y="0"/>
                </a:lnTo>
                <a:lnTo>
                  <a:pt x="6163145" y="4483688"/>
                </a:lnTo>
                <a:lnTo>
                  <a:pt x="0" y="44836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580841" y="1304925"/>
            <a:ext cx="6110274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JVM vs. JRE vs. JDK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159049" y="4281316"/>
            <a:ext cx="6129594" cy="2725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JVM: 바이트 코드를 실행하는 가상 머신</a:t>
            </a:r>
          </a:p>
          <a:p>
            <a:pPr algn="l">
              <a:lnSpc>
                <a:spcPts val="3079"/>
              </a:lnSpc>
            </a:pP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JRE: </a:t>
            </a:r>
            <a:r>
              <a:rPr lang="en-US" sz="2199">
                <a:solidFill>
                  <a:srgbClr val="FF3131"/>
                </a:solidFill>
                <a:latin typeface="TDTD순고딕"/>
                <a:ea typeface="TDTD순고딕"/>
                <a:cs typeface="TDTD순고딕"/>
                <a:sym typeface="TDTD순고딕"/>
              </a:rPr>
              <a:t>자바 표준 라이브러리</a:t>
            </a:r>
            <a:r>
              <a:rPr lang="en-US" sz="2199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등 실행에 필요한 환경을 갖춘 소프트웨어</a:t>
            </a:r>
          </a:p>
          <a:p>
            <a:pPr algn="l">
              <a:lnSpc>
                <a:spcPts val="3079"/>
              </a:lnSpc>
            </a:pPr>
          </a:p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JDK: </a:t>
            </a:r>
            <a:r>
              <a:rPr lang="en-US" sz="2199">
                <a:solidFill>
                  <a:srgbClr val="FF3131"/>
                </a:solidFill>
                <a:latin typeface="TDTD순고딕"/>
                <a:ea typeface="TDTD순고딕"/>
                <a:cs typeface="TDTD순고딕"/>
                <a:sym typeface="TDTD순고딕"/>
              </a:rPr>
              <a:t>컴파일러, 디버거</a:t>
            </a:r>
            <a:r>
              <a:rPr lang="en-US" sz="2199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등의 소프트웨어 개발 도구를 포함하는 JRE 상위 소프트웨어 계층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62856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8584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2770532" y="3347274"/>
            <a:ext cx="5246441" cy="3785667"/>
          </a:xfrm>
          <a:custGeom>
            <a:avLst/>
            <a:gdLst/>
            <a:ahLst/>
            <a:cxnLst/>
            <a:rect r="r" b="b" t="t" l="l"/>
            <a:pathLst>
              <a:path h="3785667" w="5246441">
                <a:moveTo>
                  <a:pt x="0" y="0"/>
                </a:moveTo>
                <a:lnTo>
                  <a:pt x="5246441" y="0"/>
                </a:lnTo>
                <a:lnTo>
                  <a:pt x="5246441" y="3785668"/>
                </a:lnTo>
                <a:lnTo>
                  <a:pt x="0" y="37856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1191036" y="6364986"/>
            <a:ext cx="3913224" cy="1199721"/>
            <a:chOff x="0" y="0"/>
            <a:chExt cx="1554192" cy="47648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54192" cy="476486"/>
            </a:xfrm>
            <a:custGeom>
              <a:avLst/>
              <a:gdLst/>
              <a:ahLst/>
              <a:cxnLst/>
              <a:rect r="r" b="b" t="t" l="l"/>
              <a:pathLst>
                <a:path h="476486" w="1554192">
                  <a:moveTo>
                    <a:pt x="39568" y="0"/>
                  </a:moveTo>
                  <a:lnTo>
                    <a:pt x="1514624" y="0"/>
                  </a:lnTo>
                  <a:cubicBezTo>
                    <a:pt x="1525118" y="0"/>
                    <a:pt x="1535182" y="4169"/>
                    <a:pt x="1542603" y="11589"/>
                  </a:cubicBezTo>
                  <a:cubicBezTo>
                    <a:pt x="1550023" y="19010"/>
                    <a:pt x="1554192" y="29074"/>
                    <a:pt x="1554192" y="39568"/>
                  </a:cubicBezTo>
                  <a:lnTo>
                    <a:pt x="1554192" y="436918"/>
                  </a:lnTo>
                  <a:cubicBezTo>
                    <a:pt x="1554192" y="458771"/>
                    <a:pt x="1536477" y="476486"/>
                    <a:pt x="1514624" y="476486"/>
                  </a:cubicBezTo>
                  <a:lnTo>
                    <a:pt x="39568" y="476486"/>
                  </a:lnTo>
                  <a:cubicBezTo>
                    <a:pt x="17715" y="476486"/>
                    <a:pt x="0" y="458771"/>
                    <a:pt x="0" y="436918"/>
                  </a:cubicBezTo>
                  <a:lnTo>
                    <a:pt x="0" y="39568"/>
                  </a:lnTo>
                  <a:cubicBezTo>
                    <a:pt x="0" y="17715"/>
                    <a:pt x="17715" y="0"/>
                    <a:pt x="3956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485849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554192" cy="5241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javac MyProgram.java</a:t>
              </a:r>
            </a:p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java MyProgram</a:t>
              </a: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0082851" y="6659446"/>
            <a:ext cx="748197" cy="610801"/>
          </a:xfrm>
          <a:custGeom>
            <a:avLst/>
            <a:gdLst/>
            <a:ahLst/>
            <a:cxnLst/>
            <a:rect r="r" b="b" t="t" l="l"/>
            <a:pathLst>
              <a:path h="610801" w="748197">
                <a:moveTo>
                  <a:pt x="0" y="0"/>
                </a:moveTo>
                <a:lnTo>
                  <a:pt x="748197" y="0"/>
                </a:lnTo>
                <a:lnTo>
                  <a:pt x="748197" y="610801"/>
                </a:lnTo>
                <a:lnTo>
                  <a:pt x="0" y="61080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0082851" y="3662883"/>
            <a:ext cx="6129594" cy="2334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javac</a:t>
            </a:r>
          </a:p>
          <a:p>
            <a:pPr algn="l" marL="949959" indent="-316653" lvl="2">
              <a:lnSpc>
                <a:spcPts val="3079"/>
              </a:lnSpc>
              <a:buFont typeface="Arial"/>
              <a:buChar char="⚬"/>
            </a:pPr>
            <a:r>
              <a:rPr lang="en-US" sz="2199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java 파일을 바이트 코드로 컴파일</a:t>
            </a:r>
          </a:p>
          <a:p>
            <a:pPr algn="l" marL="949959" indent="-316653" lvl="2">
              <a:lnSpc>
                <a:spcPts val="3079"/>
              </a:lnSpc>
              <a:buFont typeface="Arial"/>
              <a:buChar char="⚬"/>
            </a:pPr>
            <a:r>
              <a:rPr lang="en-US" sz="2199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JDK에 포함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java</a:t>
            </a:r>
          </a:p>
          <a:p>
            <a:pPr algn="l" marL="949959" indent="-316653" lvl="2">
              <a:lnSpc>
                <a:spcPts val="3079"/>
              </a:lnSpc>
              <a:buFont typeface="Arial"/>
              <a:buChar char="⚬"/>
            </a:pPr>
            <a:r>
              <a:rPr lang="en-US" sz="2199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class 파일을 로드하여 실행</a:t>
            </a:r>
          </a:p>
          <a:p>
            <a:pPr algn="l" marL="949959" indent="-316653" lvl="2">
              <a:lnSpc>
                <a:spcPts val="3079"/>
              </a:lnSpc>
              <a:spcBef>
                <a:spcPct val="0"/>
              </a:spcBef>
              <a:buFont typeface="Arial"/>
              <a:buChar char="⚬"/>
            </a:pPr>
            <a:r>
              <a:rPr lang="en-US" sz="2199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JRE에 포함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80841" y="1304925"/>
            <a:ext cx="6110274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컴파일/실행 명령어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62856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8584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786147" y="1304925"/>
            <a:ext cx="10485977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참고: Dependency Compilation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6513055" y="3587805"/>
            <a:ext cx="4788098" cy="2647134"/>
          </a:xfrm>
          <a:custGeom>
            <a:avLst/>
            <a:gdLst/>
            <a:ahLst/>
            <a:cxnLst/>
            <a:rect r="r" b="b" t="t" l="l"/>
            <a:pathLst>
              <a:path h="2647134" w="4788098">
                <a:moveTo>
                  <a:pt x="0" y="0"/>
                </a:moveTo>
                <a:lnTo>
                  <a:pt x="4788098" y="0"/>
                </a:lnTo>
                <a:lnTo>
                  <a:pt x="4788098" y="2647134"/>
                </a:lnTo>
                <a:lnTo>
                  <a:pt x="0" y="26471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4928857" y="6388859"/>
            <a:ext cx="7956493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javac로 컴파일할 때 참조되는 다른 클래스도 같이 컴파일된다.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62856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8584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822669" y="2747813"/>
            <a:ext cx="6727509" cy="5865281"/>
          </a:xfrm>
          <a:custGeom>
            <a:avLst/>
            <a:gdLst/>
            <a:ahLst/>
            <a:cxnLst/>
            <a:rect r="r" b="b" t="t" l="l"/>
            <a:pathLst>
              <a:path h="5865281" w="6727509">
                <a:moveTo>
                  <a:pt x="0" y="0"/>
                </a:moveTo>
                <a:lnTo>
                  <a:pt x="6727510" y="0"/>
                </a:lnTo>
                <a:lnTo>
                  <a:pt x="6727510" y="5865281"/>
                </a:lnTo>
                <a:lnTo>
                  <a:pt x="0" y="58652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159049" y="2946304"/>
            <a:ext cx="6129594" cy="5068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Java 컴파일 및 실행 시 클래스와 라이브러리를 찾을 때 참고하는 경로 목록</a:t>
            </a:r>
          </a:p>
          <a:p>
            <a:pPr algn="l">
              <a:lnSpc>
                <a:spcPts val="3079"/>
              </a:lnSpc>
            </a:pP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특징</a:t>
            </a:r>
          </a:p>
          <a:p>
            <a:pPr algn="l" marL="949959" indent="-316653" lvl="2">
              <a:lnSpc>
                <a:spcPts val="3079"/>
              </a:lnSpc>
              <a:buFont typeface="Arial"/>
              <a:buChar char="⚬"/>
            </a:pPr>
            <a:r>
              <a:rPr lang="en-US" sz="2199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classpath에 있는 .class만 인식 가능!</a:t>
            </a:r>
          </a:p>
          <a:p>
            <a:pPr algn="l" marL="949959" indent="-316653" lvl="2">
              <a:lnSpc>
                <a:spcPts val="3079"/>
              </a:lnSpc>
              <a:buFont typeface="Arial"/>
              <a:buChar char="⚬"/>
            </a:pPr>
            <a:r>
              <a:rPr lang="en-US" sz="2199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기본값:</a:t>
            </a:r>
            <a:r>
              <a:rPr lang="en-US" sz="2199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현재 디렉토리</a:t>
            </a:r>
          </a:p>
          <a:p>
            <a:pPr algn="l" marL="949959" indent="-316653" lvl="2">
              <a:lnSpc>
                <a:spcPts val="3079"/>
              </a:lnSpc>
              <a:buFont typeface="Arial"/>
              <a:buChar char="⚬"/>
            </a:pPr>
            <a:r>
              <a:rPr lang="en-US" sz="2199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여러 경로 지정 가능</a:t>
            </a:r>
          </a:p>
          <a:p>
            <a:pPr algn="l">
              <a:lnSpc>
                <a:spcPts val="3079"/>
              </a:lnSpc>
            </a:pP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환경변수 등록(Power shell)</a:t>
            </a:r>
          </a:p>
          <a:p>
            <a:pPr algn="l" marL="949959" indent="-316653" lvl="2">
              <a:lnSpc>
                <a:spcPts val="3079"/>
              </a:lnSpc>
              <a:buFont typeface="Arial"/>
              <a:buChar char="⚬"/>
            </a:pPr>
            <a:r>
              <a:rPr lang="en-US" sz="2199">
                <a:solidFill>
                  <a:srgbClr val="FF3131"/>
                </a:solidFill>
                <a:latin typeface="TDTD순고딕"/>
                <a:ea typeface="TDTD순고딕"/>
                <a:cs typeface="TDTD순고딕"/>
                <a:sym typeface="TDTD순고딕"/>
              </a:rPr>
              <a:t>$env:CLASSPATH</a:t>
            </a:r>
            <a:r>
              <a:rPr lang="en-US" sz="2199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=”./lib;./src”</a:t>
            </a:r>
          </a:p>
          <a:p>
            <a:pPr algn="l">
              <a:lnSpc>
                <a:spcPts val="3079"/>
              </a:lnSpc>
            </a:pP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명령줄 삽입</a:t>
            </a:r>
          </a:p>
          <a:p>
            <a:pPr algn="l" marL="949959" indent="-316653" lvl="2">
              <a:lnSpc>
                <a:spcPts val="3079"/>
              </a:lnSpc>
              <a:spcBef>
                <a:spcPct val="0"/>
              </a:spcBef>
              <a:buFont typeface="Arial"/>
              <a:buChar char="⚬"/>
            </a:pPr>
            <a:r>
              <a:rPr lang="en-US" sz="2199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java </a:t>
            </a:r>
            <a:r>
              <a:rPr lang="en-US" sz="2199">
                <a:solidFill>
                  <a:srgbClr val="FF3131"/>
                </a:solidFill>
                <a:latin typeface="TDTD순고딕"/>
                <a:ea typeface="TDTD순고딕"/>
                <a:cs typeface="TDTD순고딕"/>
                <a:sym typeface="TDTD순고딕"/>
              </a:rPr>
              <a:t>-cp ./src</a:t>
            </a:r>
            <a:r>
              <a:rPr lang="en-US" sz="2199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Main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96634" y="1173338"/>
            <a:ext cx="6110274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Classpath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62856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8584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520662" y="4345656"/>
            <a:ext cx="2652135" cy="2652135"/>
          </a:xfrm>
          <a:custGeom>
            <a:avLst/>
            <a:gdLst/>
            <a:ahLst/>
            <a:cxnLst/>
            <a:rect r="r" b="b" t="t" l="l"/>
            <a:pathLst>
              <a:path h="2652135" w="2652135">
                <a:moveTo>
                  <a:pt x="0" y="0"/>
                </a:moveTo>
                <a:lnTo>
                  <a:pt x="2652135" y="0"/>
                </a:lnTo>
                <a:lnTo>
                  <a:pt x="2652135" y="2652136"/>
                </a:lnTo>
                <a:lnTo>
                  <a:pt x="0" y="26521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aphicFrame>
        <p:nvGraphicFramePr>
          <p:cNvPr name="Table 20" id="20"/>
          <p:cNvGraphicFramePr>
            <a:graphicFrameLocks noGrp="true"/>
          </p:cNvGraphicFramePr>
          <p:nvPr/>
        </p:nvGraphicFramePr>
        <p:xfrm>
          <a:off x="8907104" y="3687724"/>
          <a:ext cx="7499625" cy="4846701"/>
        </p:xfrm>
        <a:graphic>
          <a:graphicData uri="http://schemas.openxmlformats.org/drawingml/2006/table">
            <a:tbl>
              <a:tblPr/>
              <a:tblGrid>
                <a:gridCol w="1426689"/>
                <a:gridCol w="3234945"/>
                <a:gridCol w="2837992"/>
              </a:tblGrid>
              <a:tr h="72003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구분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실행 가능 JAR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라이브러리용 JAR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531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용도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독립 실행 앱 배포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코드 재사용(라이브러리)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72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Manifest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Main-Class 필수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X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72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사용 방법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java -jar로 바로 실행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classpath에 .jar 추가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685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예시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스프링부트 앱,</a:t>
                      </a:r>
                      <a:endParaRPr lang="en-US" sz="1100"/>
                    </a:p>
                    <a:p>
                      <a:pPr algn="ctr">
                        <a:lnSpc>
                          <a:spcPts val="2520"/>
                        </a:lnSpc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데스크탑 앱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DTD순고딕"/>
                          <a:ea typeface="TDTD순고딕"/>
                          <a:cs typeface="TDTD순고딕"/>
                          <a:sym typeface="TDTD순고딕"/>
                        </a:rPr>
                        <a:t>Jackson, Log4j, JUnit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21" id="21"/>
          <p:cNvSpPr/>
          <p:nvPr/>
        </p:nvSpPr>
        <p:spPr>
          <a:xfrm flipH="false" flipV="false" rot="0">
            <a:off x="4944125" y="4828944"/>
            <a:ext cx="1990395" cy="1685560"/>
          </a:xfrm>
          <a:custGeom>
            <a:avLst/>
            <a:gdLst/>
            <a:ahLst/>
            <a:cxnLst/>
            <a:rect r="r" b="b" t="t" l="l"/>
            <a:pathLst>
              <a:path h="1685560" w="1990395">
                <a:moveTo>
                  <a:pt x="0" y="0"/>
                </a:moveTo>
                <a:lnTo>
                  <a:pt x="1990396" y="0"/>
                </a:lnTo>
                <a:lnTo>
                  <a:pt x="1990396" y="1685560"/>
                </a:lnTo>
                <a:lnTo>
                  <a:pt x="0" y="168556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22" id="22"/>
          <p:cNvSpPr txBox="true"/>
          <p:nvPr/>
        </p:nvSpPr>
        <p:spPr>
          <a:xfrm rot="0">
            <a:off x="9144000" y="2133879"/>
            <a:ext cx="6007623" cy="77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바이트코드 파일, 리소스 파일, 메타 데이터를 하나로 묶은</a:t>
            </a:r>
            <a:r>
              <a:rPr lang="en-US" sz="2199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압축 파일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07183" y="1304925"/>
            <a:ext cx="6110274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Jar 파일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62856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8584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4250894" y="3653461"/>
            <a:ext cx="9786212" cy="688477"/>
          </a:xfrm>
          <a:custGeom>
            <a:avLst/>
            <a:gdLst/>
            <a:ahLst/>
            <a:cxnLst/>
            <a:rect r="r" b="b" t="t" l="l"/>
            <a:pathLst>
              <a:path h="688477" w="9786212">
                <a:moveTo>
                  <a:pt x="0" y="0"/>
                </a:moveTo>
                <a:lnTo>
                  <a:pt x="9786212" y="0"/>
                </a:lnTo>
                <a:lnTo>
                  <a:pt x="9786212" y="688478"/>
                </a:lnTo>
                <a:lnTo>
                  <a:pt x="0" y="68847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4250894" y="4341939"/>
            <a:ext cx="9532758" cy="3196114"/>
          </a:xfrm>
          <a:custGeom>
            <a:avLst/>
            <a:gdLst/>
            <a:ahLst/>
            <a:cxnLst/>
            <a:rect r="r" b="b" t="t" l="l"/>
            <a:pathLst>
              <a:path h="3196114" w="9532758">
                <a:moveTo>
                  <a:pt x="0" y="0"/>
                </a:moveTo>
                <a:lnTo>
                  <a:pt x="9532758" y="0"/>
                </a:lnTo>
                <a:lnTo>
                  <a:pt x="9532758" y="3196114"/>
                </a:lnTo>
                <a:lnTo>
                  <a:pt x="0" y="31961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3381214" y="1268095"/>
            <a:ext cx="6110274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실습 1: Hello World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822669" y="1046162"/>
            <a:ext cx="2048120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7200" b="true">
                <a:solidFill>
                  <a:srgbClr val="8CB791">
                    <a:alpha val="73725"/>
                  </a:srgbClr>
                </a:solidFill>
                <a:latin typeface="Tlab 레트로라이프 Bold"/>
                <a:ea typeface="Tlab 레트로라이프 Bold"/>
                <a:cs typeface="Tlab 레트로라이프 Bold"/>
                <a:sym typeface="Tlab 레트로라이프 Bold"/>
              </a:rPr>
              <a:t>02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822669" y="8471623"/>
            <a:ext cx="7647980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실습 링크: </a:t>
            </a:r>
            <a:r>
              <a:rPr lang="en-US" sz="2199" u="sng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  <a:hlinkClick r:id="rId8" tooltip="https://github.com/jonghwankoh/java-practice"/>
              </a:rPr>
              <a:t>https://github.com/jonghwankoh/java-practice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3866171" y="2576274"/>
            <a:ext cx="520843" cy="500009"/>
          </a:xfrm>
          <a:custGeom>
            <a:avLst/>
            <a:gdLst/>
            <a:ahLst/>
            <a:cxnLst/>
            <a:rect r="r" b="b" t="t" l="l"/>
            <a:pathLst>
              <a:path h="500009" w="520843">
                <a:moveTo>
                  <a:pt x="0" y="0"/>
                </a:moveTo>
                <a:lnTo>
                  <a:pt x="520843" y="0"/>
                </a:lnTo>
                <a:lnTo>
                  <a:pt x="520843" y="500009"/>
                </a:lnTo>
                <a:lnTo>
                  <a:pt x="0" y="50000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4591778" y="2545125"/>
            <a:ext cx="4878871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Step 1: 소스코드 작성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3870789" y="3379574"/>
            <a:ext cx="10554314" cy="4554519"/>
            <a:chOff x="0" y="0"/>
            <a:chExt cx="4191794" cy="180889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191794" cy="1808891"/>
            </a:xfrm>
            <a:custGeom>
              <a:avLst/>
              <a:gdLst/>
              <a:ahLst/>
              <a:cxnLst/>
              <a:rect r="r" b="b" t="t" l="l"/>
              <a:pathLst>
                <a:path h="1808891" w="4191794">
                  <a:moveTo>
                    <a:pt x="14671" y="0"/>
                  </a:moveTo>
                  <a:lnTo>
                    <a:pt x="4177123" y="0"/>
                  </a:lnTo>
                  <a:cubicBezTo>
                    <a:pt x="4185226" y="0"/>
                    <a:pt x="4191794" y="6568"/>
                    <a:pt x="4191794" y="14671"/>
                  </a:cubicBezTo>
                  <a:lnTo>
                    <a:pt x="4191794" y="1794221"/>
                  </a:lnTo>
                  <a:cubicBezTo>
                    <a:pt x="4191794" y="1798111"/>
                    <a:pt x="4190248" y="1801843"/>
                    <a:pt x="4187497" y="1804594"/>
                  </a:cubicBezTo>
                  <a:cubicBezTo>
                    <a:pt x="4184746" y="1807345"/>
                    <a:pt x="4181014" y="1808891"/>
                    <a:pt x="4177123" y="1808891"/>
                  </a:cubicBezTo>
                  <a:lnTo>
                    <a:pt x="14671" y="1808891"/>
                  </a:lnTo>
                  <a:cubicBezTo>
                    <a:pt x="6568" y="1808891"/>
                    <a:pt x="0" y="1802323"/>
                    <a:pt x="0" y="1794221"/>
                  </a:cubicBezTo>
                  <a:lnTo>
                    <a:pt x="0" y="14671"/>
                  </a:lnTo>
                  <a:cubicBezTo>
                    <a:pt x="0" y="6568"/>
                    <a:pt x="6568" y="0"/>
                    <a:pt x="1467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485849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4191794" cy="18469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62856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8584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4625796" y="2635699"/>
            <a:ext cx="7397527" cy="2848246"/>
          </a:xfrm>
          <a:custGeom>
            <a:avLst/>
            <a:gdLst/>
            <a:ahLst/>
            <a:cxnLst/>
            <a:rect r="r" b="b" t="t" l="l"/>
            <a:pathLst>
              <a:path h="2848246" w="7397527">
                <a:moveTo>
                  <a:pt x="0" y="0"/>
                </a:moveTo>
                <a:lnTo>
                  <a:pt x="7397527" y="0"/>
                </a:lnTo>
                <a:lnTo>
                  <a:pt x="7397527" y="2848246"/>
                </a:lnTo>
                <a:lnTo>
                  <a:pt x="0" y="28482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4625796" y="6694388"/>
            <a:ext cx="8562616" cy="1088468"/>
          </a:xfrm>
          <a:custGeom>
            <a:avLst/>
            <a:gdLst/>
            <a:ahLst/>
            <a:cxnLst/>
            <a:rect r="r" b="b" t="t" l="l"/>
            <a:pathLst>
              <a:path h="1088468" w="8562616">
                <a:moveTo>
                  <a:pt x="0" y="0"/>
                </a:moveTo>
                <a:lnTo>
                  <a:pt x="8562616" y="0"/>
                </a:lnTo>
                <a:lnTo>
                  <a:pt x="8562616" y="1088469"/>
                </a:lnTo>
                <a:lnTo>
                  <a:pt x="0" y="108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4625796" y="8040032"/>
            <a:ext cx="6974830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3131"/>
                </a:solidFill>
                <a:latin typeface="TDTD순고딕"/>
                <a:ea typeface="TDTD순고딕"/>
                <a:cs typeface="TDTD순고딕"/>
                <a:sym typeface="TDTD순고딕"/>
              </a:rPr>
              <a:t>원인: Classpath가 이미 다른 값으로 설정된 경우 발생 가능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4625796" y="1864698"/>
            <a:ext cx="520843" cy="500009"/>
          </a:xfrm>
          <a:custGeom>
            <a:avLst/>
            <a:gdLst/>
            <a:ahLst/>
            <a:cxnLst/>
            <a:rect r="r" b="b" t="t" l="l"/>
            <a:pathLst>
              <a:path h="500009" w="520843">
                <a:moveTo>
                  <a:pt x="0" y="0"/>
                </a:moveTo>
                <a:lnTo>
                  <a:pt x="520842" y="0"/>
                </a:lnTo>
                <a:lnTo>
                  <a:pt x="520842" y="500009"/>
                </a:lnTo>
                <a:lnTo>
                  <a:pt x="0" y="5000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5351403" y="1833550"/>
            <a:ext cx="4878871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Step 2: 컴파일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4625796" y="5899114"/>
            <a:ext cx="520843" cy="500009"/>
          </a:xfrm>
          <a:custGeom>
            <a:avLst/>
            <a:gdLst/>
            <a:ahLst/>
            <a:cxnLst/>
            <a:rect r="r" b="b" t="t" l="l"/>
            <a:pathLst>
              <a:path h="500009" w="520843">
                <a:moveTo>
                  <a:pt x="0" y="0"/>
                </a:moveTo>
                <a:lnTo>
                  <a:pt x="520842" y="0"/>
                </a:lnTo>
                <a:lnTo>
                  <a:pt x="520842" y="500009"/>
                </a:lnTo>
                <a:lnTo>
                  <a:pt x="0" y="5000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5351403" y="5867965"/>
            <a:ext cx="4878871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Step 3: 실행?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62856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8584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3895758" y="4379683"/>
            <a:ext cx="10022692" cy="753919"/>
          </a:xfrm>
          <a:custGeom>
            <a:avLst/>
            <a:gdLst/>
            <a:ahLst/>
            <a:cxnLst/>
            <a:rect r="r" b="b" t="t" l="l"/>
            <a:pathLst>
              <a:path h="753919" w="10022692">
                <a:moveTo>
                  <a:pt x="0" y="0"/>
                </a:moveTo>
                <a:lnTo>
                  <a:pt x="10022692" y="0"/>
                </a:lnTo>
                <a:lnTo>
                  <a:pt x="10022692" y="753920"/>
                </a:lnTo>
                <a:lnTo>
                  <a:pt x="0" y="7539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6644072" y="5457453"/>
            <a:ext cx="4526064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명령줄에 -cp 옵션 삽입으로 해결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3895758" y="3513202"/>
            <a:ext cx="520843" cy="500009"/>
          </a:xfrm>
          <a:custGeom>
            <a:avLst/>
            <a:gdLst/>
            <a:ahLst/>
            <a:cxnLst/>
            <a:rect r="r" b="b" t="t" l="l"/>
            <a:pathLst>
              <a:path h="500009" w="520843">
                <a:moveTo>
                  <a:pt x="0" y="0"/>
                </a:moveTo>
                <a:lnTo>
                  <a:pt x="520843" y="0"/>
                </a:lnTo>
                <a:lnTo>
                  <a:pt x="520843" y="500009"/>
                </a:lnTo>
                <a:lnTo>
                  <a:pt x="0" y="50000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4621365" y="3482053"/>
            <a:ext cx="4878871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Step 3: 실행 성공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62856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8584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7718200" y="3521432"/>
            <a:ext cx="7788562" cy="3620998"/>
          </a:xfrm>
          <a:custGeom>
            <a:avLst/>
            <a:gdLst/>
            <a:ahLst/>
            <a:cxnLst/>
            <a:rect r="r" b="b" t="t" l="l"/>
            <a:pathLst>
              <a:path h="3620998" w="7788562">
                <a:moveTo>
                  <a:pt x="0" y="0"/>
                </a:moveTo>
                <a:lnTo>
                  <a:pt x="7788562" y="0"/>
                </a:lnTo>
                <a:lnTo>
                  <a:pt x="7788562" y="3620998"/>
                </a:lnTo>
                <a:lnTo>
                  <a:pt x="0" y="36209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3870789" y="4198014"/>
            <a:ext cx="2267834" cy="2267834"/>
          </a:xfrm>
          <a:custGeom>
            <a:avLst/>
            <a:gdLst/>
            <a:ahLst/>
            <a:cxnLst/>
            <a:rect r="r" b="b" t="t" l="l"/>
            <a:pathLst>
              <a:path h="2267834" w="2267834">
                <a:moveTo>
                  <a:pt x="0" y="0"/>
                </a:moveTo>
                <a:lnTo>
                  <a:pt x="2267834" y="0"/>
                </a:lnTo>
                <a:lnTo>
                  <a:pt x="2267834" y="2267834"/>
                </a:lnTo>
                <a:lnTo>
                  <a:pt x="0" y="22678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3381214" y="1268095"/>
            <a:ext cx="7482446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실습 2: src, bin 분리 구조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822669" y="1046162"/>
            <a:ext cx="2048120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7200" b="true">
                <a:solidFill>
                  <a:srgbClr val="8CB791">
                    <a:alpha val="73725"/>
                  </a:srgbClr>
                </a:solidFill>
                <a:latin typeface="Tlab 레트로라이프 Bold"/>
                <a:ea typeface="Tlab 레트로라이프 Bold"/>
                <a:cs typeface="Tlab 레트로라이프 Bold"/>
                <a:sym typeface="Tlab 레트로라이프 Bold"/>
              </a:rPr>
              <a:t>03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62856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8584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4649761" y="2785146"/>
            <a:ext cx="3568266" cy="1142861"/>
          </a:xfrm>
          <a:custGeom>
            <a:avLst/>
            <a:gdLst/>
            <a:ahLst/>
            <a:cxnLst/>
            <a:rect r="r" b="b" t="t" l="l"/>
            <a:pathLst>
              <a:path h="1142861" w="3568266">
                <a:moveTo>
                  <a:pt x="0" y="0"/>
                </a:moveTo>
                <a:lnTo>
                  <a:pt x="3568266" y="0"/>
                </a:lnTo>
                <a:lnTo>
                  <a:pt x="3568266" y="1142860"/>
                </a:lnTo>
                <a:lnTo>
                  <a:pt x="0" y="11428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4649761" y="5107047"/>
            <a:ext cx="8988478" cy="2478717"/>
          </a:xfrm>
          <a:custGeom>
            <a:avLst/>
            <a:gdLst/>
            <a:ahLst/>
            <a:cxnLst/>
            <a:rect r="r" b="b" t="t" l="l"/>
            <a:pathLst>
              <a:path h="2478717" w="8988478">
                <a:moveTo>
                  <a:pt x="0" y="0"/>
                </a:moveTo>
                <a:lnTo>
                  <a:pt x="8988478" y="0"/>
                </a:lnTo>
                <a:lnTo>
                  <a:pt x="8988478" y="2478716"/>
                </a:lnTo>
                <a:lnTo>
                  <a:pt x="0" y="247871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9656039" y="5107047"/>
            <a:ext cx="3878910" cy="296017"/>
            <a:chOff x="0" y="0"/>
            <a:chExt cx="1021606" cy="7796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21606" cy="77963"/>
            </a:xfrm>
            <a:custGeom>
              <a:avLst/>
              <a:gdLst/>
              <a:ahLst/>
              <a:cxnLst/>
              <a:rect r="r" b="b" t="t" l="l"/>
              <a:pathLst>
                <a:path h="77963" w="1021606">
                  <a:moveTo>
                    <a:pt x="0" y="0"/>
                  </a:moveTo>
                  <a:lnTo>
                    <a:pt x="1021606" y="0"/>
                  </a:lnTo>
                  <a:lnTo>
                    <a:pt x="1021606" y="77963"/>
                  </a:lnTo>
                  <a:lnTo>
                    <a:pt x="0" y="779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1021606" cy="1255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5429226" y="7881038"/>
            <a:ext cx="7429547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-d 옵션으로 바이트 코드가 저장될 위치를 지정할 수 있다.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4649761" y="2023691"/>
            <a:ext cx="520843" cy="500009"/>
          </a:xfrm>
          <a:custGeom>
            <a:avLst/>
            <a:gdLst/>
            <a:ahLst/>
            <a:cxnLst/>
            <a:rect r="r" b="b" t="t" l="l"/>
            <a:pathLst>
              <a:path h="500009" w="520843">
                <a:moveTo>
                  <a:pt x="0" y="0"/>
                </a:moveTo>
                <a:lnTo>
                  <a:pt x="520843" y="0"/>
                </a:lnTo>
                <a:lnTo>
                  <a:pt x="520843" y="500009"/>
                </a:lnTo>
                <a:lnTo>
                  <a:pt x="0" y="5000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5375368" y="1992543"/>
            <a:ext cx="4878871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Step 1: 코드 작성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4649761" y="4452947"/>
            <a:ext cx="520843" cy="500009"/>
          </a:xfrm>
          <a:custGeom>
            <a:avLst/>
            <a:gdLst/>
            <a:ahLst/>
            <a:cxnLst/>
            <a:rect r="r" b="b" t="t" l="l"/>
            <a:pathLst>
              <a:path h="500009" w="520843">
                <a:moveTo>
                  <a:pt x="0" y="0"/>
                </a:moveTo>
                <a:lnTo>
                  <a:pt x="520843" y="0"/>
                </a:lnTo>
                <a:lnTo>
                  <a:pt x="520843" y="500009"/>
                </a:lnTo>
                <a:lnTo>
                  <a:pt x="0" y="5000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5375368" y="4421798"/>
            <a:ext cx="4878871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Step 2: -d 옵션으로 컴파일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62856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8584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7175717" y="2644182"/>
            <a:ext cx="3453249" cy="2185107"/>
          </a:xfrm>
          <a:custGeom>
            <a:avLst/>
            <a:gdLst/>
            <a:ahLst/>
            <a:cxnLst/>
            <a:rect r="r" b="b" t="t" l="l"/>
            <a:pathLst>
              <a:path h="2185107" w="3453249">
                <a:moveTo>
                  <a:pt x="0" y="0"/>
                </a:moveTo>
                <a:lnTo>
                  <a:pt x="3453249" y="0"/>
                </a:lnTo>
                <a:lnTo>
                  <a:pt x="3453249" y="2185107"/>
                </a:lnTo>
                <a:lnTo>
                  <a:pt x="0" y="218510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3530594" y="6116539"/>
            <a:ext cx="10743495" cy="727512"/>
          </a:xfrm>
          <a:custGeom>
            <a:avLst/>
            <a:gdLst/>
            <a:ahLst/>
            <a:cxnLst/>
            <a:rect r="r" b="b" t="t" l="l"/>
            <a:pathLst>
              <a:path h="727512" w="10743495">
                <a:moveTo>
                  <a:pt x="0" y="0"/>
                </a:moveTo>
                <a:lnTo>
                  <a:pt x="10743495" y="0"/>
                </a:lnTo>
                <a:lnTo>
                  <a:pt x="10743495" y="727512"/>
                </a:lnTo>
                <a:lnTo>
                  <a:pt x="0" y="72751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6670955" y="7211139"/>
            <a:ext cx="4946090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classpath에 .\bin 등록하여 실행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0331632" y="6164164"/>
            <a:ext cx="3951982" cy="373391"/>
            <a:chOff x="0" y="0"/>
            <a:chExt cx="1040851" cy="9834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40851" cy="98342"/>
            </a:xfrm>
            <a:custGeom>
              <a:avLst/>
              <a:gdLst/>
              <a:ahLst/>
              <a:cxnLst/>
              <a:rect r="r" b="b" t="t" l="l"/>
              <a:pathLst>
                <a:path h="98342" w="1040851">
                  <a:moveTo>
                    <a:pt x="0" y="0"/>
                  </a:moveTo>
                  <a:lnTo>
                    <a:pt x="1040851" y="0"/>
                  </a:lnTo>
                  <a:lnTo>
                    <a:pt x="1040851" y="98342"/>
                  </a:lnTo>
                  <a:lnTo>
                    <a:pt x="0" y="983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1040851" cy="1459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3530594" y="5366558"/>
            <a:ext cx="520843" cy="500009"/>
          </a:xfrm>
          <a:custGeom>
            <a:avLst/>
            <a:gdLst/>
            <a:ahLst/>
            <a:cxnLst/>
            <a:rect r="r" b="b" t="t" l="l"/>
            <a:pathLst>
              <a:path h="500009" w="520843">
                <a:moveTo>
                  <a:pt x="0" y="0"/>
                </a:moveTo>
                <a:lnTo>
                  <a:pt x="520843" y="0"/>
                </a:lnTo>
                <a:lnTo>
                  <a:pt x="520843" y="500009"/>
                </a:lnTo>
                <a:lnTo>
                  <a:pt x="0" y="5000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4256201" y="5335409"/>
            <a:ext cx="6075431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Step 3: -cp 옵션으로 실행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62856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8584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822669" y="3819344"/>
            <a:ext cx="6160189" cy="3080094"/>
          </a:xfrm>
          <a:custGeom>
            <a:avLst/>
            <a:gdLst/>
            <a:ahLst/>
            <a:cxnLst/>
            <a:rect r="r" b="b" t="t" l="l"/>
            <a:pathLst>
              <a:path h="3080094" w="6160189">
                <a:moveTo>
                  <a:pt x="0" y="0"/>
                </a:moveTo>
                <a:lnTo>
                  <a:pt x="6160189" y="0"/>
                </a:lnTo>
                <a:lnTo>
                  <a:pt x="6160189" y="3080094"/>
                </a:lnTo>
                <a:lnTo>
                  <a:pt x="0" y="30800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8823488" y="3416267"/>
            <a:ext cx="8033586" cy="3886247"/>
          </a:xfrm>
          <a:custGeom>
            <a:avLst/>
            <a:gdLst/>
            <a:ahLst/>
            <a:cxnLst/>
            <a:rect r="r" b="b" t="t" l="l"/>
            <a:pathLst>
              <a:path h="3886247" w="8033586">
                <a:moveTo>
                  <a:pt x="0" y="0"/>
                </a:moveTo>
                <a:lnTo>
                  <a:pt x="8033586" y="0"/>
                </a:lnTo>
                <a:lnTo>
                  <a:pt x="8033586" y="3886247"/>
                </a:lnTo>
                <a:lnTo>
                  <a:pt x="0" y="388624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822669" y="2916258"/>
            <a:ext cx="520843" cy="500009"/>
          </a:xfrm>
          <a:custGeom>
            <a:avLst/>
            <a:gdLst/>
            <a:ahLst/>
            <a:cxnLst/>
            <a:rect r="r" b="b" t="t" l="l"/>
            <a:pathLst>
              <a:path h="500009" w="520843">
                <a:moveTo>
                  <a:pt x="0" y="0"/>
                </a:moveTo>
                <a:lnTo>
                  <a:pt x="520843" y="0"/>
                </a:lnTo>
                <a:lnTo>
                  <a:pt x="520843" y="500009"/>
                </a:lnTo>
                <a:lnTo>
                  <a:pt x="0" y="5000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8823488" y="2701780"/>
            <a:ext cx="520843" cy="500009"/>
          </a:xfrm>
          <a:custGeom>
            <a:avLst/>
            <a:gdLst/>
            <a:ahLst/>
            <a:cxnLst/>
            <a:rect r="r" b="b" t="t" l="l"/>
            <a:pathLst>
              <a:path h="500009" w="520843">
                <a:moveTo>
                  <a:pt x="0" y="0"/>
                </a:moveTo>
                <a:lnTo>
                  <a:pt x="520843" y="0"/>
                </a:lnTo>
                <a:lnTo>
                  <a:pt x="520843" y="500009"/>
                </a:lnTo>
                <a:lnTo>
                  <a:pt x="0" y="5000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11776691" y="3842207"/>
            <a:ext cx="1893276" cy="216152"/>
            <a:chOff x="0" y="0"/>
            <a:chExt cx="498641" cy="5692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98641" cy="56929"/>
            </a:xfrm>
            <a:custGeom>
              <a:avLst/>
              <a:gdLst/>
              <a:ahLst/>
              <a:cxnLst/>
              <a:rect r="r" b="b" t="t" l="l"/>
              <a:pathLst>
                <a:path h="56929" w="498641">
                  <a:moveTo>
                    <a:pt x="0" y="0"/>
                  </a:moveTo>
                  <a:lnTo>
                    <a:pt x="498641" y="0"/>
                  </a:lnTo>
                  <a:lnTo>
                    <a:pt x="498641" y="56929"/>
                  </a:lnTo>
                  <a:lnTo>
                    <a:pt x="0" y="5692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498641" cy="104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3381214" y="1268095"/>
            <a:ext cx="10165804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실습 3: 외부 라이브러리 사용해보기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822669" y="1046162"/>
            <a:ext cx="2048120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7200" b="true">
                <a:solidFill>
                  <a:srgbClr val="8CB791">
                    <a:alpha val="73725"/>
                  </a:srgbClr>
                </a:solidFill>
                <a:latin typeface="Tlab 레트로라이프 Bold"/>
                <a:ea typeface="Tlab 레트로라이프 Bold"/>
                <a:cs typeface="Tlab 레트로라이프 Bold"/>
                <a:sym typeface="Tlab 레트로라이프 Bold"/>
              </a:rPr>
              <a:t>04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548277" y="2885110"/>
            <a:ext cx="5265844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Step 1: 라이브러리 다운로드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549095" y="2670632"/>
            <a:ext cx="5265844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Step 2: 코드 작성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62856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8584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3493371" y="3107619"/>
            <a:ext cx="11301259" cy="692202"/>
          </a:xfrm>
          <a:custGeom>
            <a:avLst/>
            <a:gdLst/>
            <a:ahLst/>
            <a:cxnLst/>
            <a:rect r="r" b="b" t="t" l="l"/>
            <a:pathLst>
              <a:path h="692202" w="11301259">
                <a:moveTo>
                  <a:pt x="0" y="0"/>
                </a:moveTo>
                <a:lnTo>
                  <a:pt x="11301258" y="0"/>
                </a:lnTo>
                <a:lnTo>
                  <a:pt x="11301258" y="692202"/>
                </a:lnTo>
                <a:lnTo>
                  <a:pt x="0" y="69220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3493371" y="6342860"/>
            <a:ext cx="11301259" cy="960607"/>
          </a:xfrm>
          <a:custGeom>
            <a:avLst/>
            <a:gdLst/>
            <a:ahLst/>
            <a:cxnLst/>
            <a:rect r="r" b="b" t="t" l="l"/>
            <a:pathLst>
              <a:path h="960607" w="11301259">
                <a:moveTo>
                  <a:pt x="0" y="0"/>
                </a:moveTo>
                <a:lnTo>
                  <a:pt x="11301258" y="0"/>
                </a:lnTo>
                <a:lnTo>
                  <a:pt x="11301258" y="960607"/>
                </a:lnTo>
                <a:lnTo>
                  <a:pt x="0" y="96060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8781267" y="3080329"/>
            <a:ext cx="6013363" cy="330336"/>
            <a:chOff x="0" y="0"/>
            <a:chExt cx="1583766" cy="8700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583766" cy="87002"/>
            </a:xfrm>
            <a:custGeom>
              <a:avLst/>
              <a:gdLst/>
              <a:ahLst/>
              <a:cxnLst/>
              <a:rect r="r" b="b" t="t" l="l"/>
              <a:pathLst>
                <a:path h="87002" w="1583766">
                  <a:moveTo>
                    <a:pt x="0" y="0"/>
                  </a:moveTo>
                  <a:lnTo>
                    <a:pt x="1583766" y="0"/>
                  </a:lnTo>
                  <a:lnTo>
                    <a:pt x="1583766" y="87002"/>
                  </a:lnTo>
                  <a:lnTo>
                    <a:pt x="0" y="870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1583766" cy="1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983304" y="6314285"/>
            <a:ext cx="5811326" cy="314059"/>
            <a:chOff x="0" y="0"/>
            <a:chExt cx="1530555" cy="8271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530555" cy="82715"/>
            </a:xfrm>
            <a:custGeom>
              <a:avLst/>
              <a:gdLst/>
              <a:ahLst/>
              <a:cxnLst/>
              <a:rect r="r" b="b" t="t" l="l"/>
              <a:pathLst>
                <a:path h="82715" w="1530555">
                  <a:moveTo>
                    <a:pt x="0" y="0"/>
                  </a:moveTo>
                  <a:lnTo>
                    <a:pt x="1530555" y="0"/>
                  </a:lnTo>
                  <a:lnTo>
                    <a:pt x="1530555" y="82715"/>
                  </a:lnTo>
                  <a:lnTo>
                    <a:pt x="0" y="827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1530555" cy="1303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3493371" y="2258363"/>
            <a:ext cx="520843" cy="500009"/>
          </a:xfrm>
          <a:custGeom>
            <a:avLst/>
            <a:gdLst/>
            <a:ahLst/>
            <a:cxnLst/>
            <a:rect r="r" b="b" t="t" l="l"/>
            <a:pathLst>
              <a:path h="500009" w="520843">
                <a:moveTo>
                  <a:pt x="0" y="0"/>
                </a:moveTo>
                <a:lnTo>
                  <a:pt x="520842" y="0"/>
                </a:lnTo>
                <a:lnTo>
                  <a:pt x="520842" y="500009"/>
                </a:lnTo>
                <a:lnTo>
                  <a:pt x="0" y="5000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4218978" y="2227214"/>
            <a:ext cx="5265844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Step 3: 컴파일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3493371" y="5603290"/>
            <a:ext cx="520843" cy="500009"/>
          </a:xfrm>
          <a:custGeom>
            <a:avLst/>
            <a:gdLst/>
            <a:ahLst/>
            <a:cxnLst/>
            <a:rect r="r" b="b" t="t" l="l"/>
            <a:pathLst>
              <a:path h="500009" w="520843">
                <a:moveTo>
                  <a:pt x="0" y="0"/>
                </a:moveTo>
                <a:lnTo>
                  <a:pt x="520842" y="0"/>
                </a:lnTo>
                <a:lnTo>
                  <a:pt x="520842" y="500009"/>
                </a:lnTo>
                <a:lnTo>
                  <a:pt x="0" y="5000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4218978" y="5572141"/>
            <a:ext cx="5265844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Step 4: 실행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882261" y="3980005"/>
            <a:ext cx="4523477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classpath에 .jar 파일 위치 추가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999871" y="7646367"/>
            <a:ext cx="3966865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실행시에도 라이브러리 추가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62856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8584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3493371" y="2923029"/>
            <a:ext cx="11301259" cy="960607"/>
          </a:xfrm>
          <a:custGeom>
            <a:avLst/>
            <a:gdLst/>
            <a:ahLst/>
            <a:cxnLst/>
            <a:rect r="r" b="b" t="t" l="l"/>
            <a:pathLst>
              <a:path h="960607" w="11301259">
                <a:moveTo>
                  <a:pt x="0" y="0"/>
                </a:moveTo>
                <a:lnTo>
                  <a:pt x="11301258" y="0"/>
                </a:lnTo>
                <a:lnTo>
                  <a:pt x="11301258" y="960607"/>
                </a:lnTo>
                <a:lnTo>
                  <a:pt x="0" y="96060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8983304" y="2894454"/>
            <a:ext cx="5811326" cy="314059"/>
            <a:chOff x="0" y="0"/>
            <a:chExt cx="1530555" cy="8271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30555" cy="82715"/>
            </a:xfrm>
            <a:custGeom>
              <a:avLst/>
              <a:gdLst/>
              <a:ahLst/>
              <a:cxnLst/>
              <a:rect r="r" b="b" t="t" l="l"/>
              <a:pathLst>
                <a:path h="82715" w="1530555">
                  <a:moveTo>
                    <a:pt x="0" y="0"/>
                  </a:moveTo>
                  <a:lnTo>
                    <a:pt x="1530555" y="0"/>
                  </a:lnTo>
                  <a:lnTo>
                    <a:pt x="1530555" y="82715"/>
                  </a:lnTo>
                  <a:lnTo>
                    <a:pt x="0" y="827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530555" cy="1303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7390087" y="4159733"/>
            <a:ext cx="3034034" cy="2275525"/>
          </a:xfrm>
          <a:custGeom>
            <a:avLst/>
            <a:gdLst/>
            <a:ahLst/>
            <a:cxnLst/>
            <a:rect r="r" b="b" t="t" l="l"/>
            <a:pathLst>
              <a:path h="2275525" w="3034034">
                <a:moveTo>
                  <a:pt x="0" y="0"/>
                </a:moveTo>
                <a:lnTo>
                  <a:pt x="3034034" y="0"/>
                </a:lnTo>
                <a:lnTo>
                  <a:pt x="3034034" y="2275526"/>
                </a:lnTo>
                <a:lnTo>
                  <a:pt x="0" y="227552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2786271" y="6915299"/>
            <a:ext cx="12715458" cy="1672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프로젝트의 규모가 커지고 의존하는 라이브러리가 늘어나면 일일히 classpath 설정을 해줘야한다. 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-&gt; 의존성 지옥(JAR Hell)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-&gt; 빌드 자동화 도구가 해결해야 할 핵심 과제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468951" y="1304925"/>
            <a:ext cx="11215153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번거로운 라이브러리 관리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62856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8584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374490" y="2752829"/>
            <a:ext cx="7539021" cy="6059488"/>
          </a:xfrm>
          <a:custGeom>
            <a:avLst/>
            <a:gdLst/>
            <a:ahLst/>
            <a:cxnLst/>
            <a:rect r="r" b="b" t="t" l="l"/>
            <a:pathLst>
              <a:path h="6059488" w="7539021">
                <a:moveTo>
                  <a:pt x="0" y="0"/>
                </a:moveTo>
                <a:lnTo>
                  <a:pt x="7539020" y="0"/>
                </a:lnTo>
                <a:lnTo>
                  <a:pt x="7539020" y="6059488"/>
                </a:lnTo>
                <a:lnTo>
                  <a:pt x="0" y="60594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3381214" y="1268095"/>
            <a:ext cx="9723660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실습 4: 과제 코드 실행해보기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822669" y="1046162"/>
            <a:ext cx="2048120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7200" b="true">
                <a:solidFill>
                  <a:srgbClr val="8CB791">
                    <a:alpha val="73725"/>
                  </a:srgbClr>
                </a:solidFill>
                <a:latin typeface="Tlab 레트로라이프 Bold"/>
                <a:ea typeface="Tlab 레트로라이프 Bold"/>
                <a:cs typeface="Tlab 레트로라이프 Bold"/>
                <a:sym typeface="Tlab 레트로라이프 Bold"/>
              </a:rPr>
              <a:t>05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62856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8584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3493371" y="7380796"/>
            <a:ext cx="3747067" cy="406521"/>
          </a:xfrm>
          <a:custGeom>
            <a:avLst/>
            <a:gdLst/>
            <a:ahLst/>
            <a:cxnLst/>
            <a:rect r="r" b="b" t="t" l="l"/>
            <a:pathLst>
              <a:path h="406521" w="3747067">
                <a:moveTo>
                  <a:pt x="0" y="0"/>
                </a:moveTo>
                <a:lnTo>
                  <a:pt x="3747066" y="0"/>
                </a:lnTo>
                <a:lnTo>
                  <a:pt x="3747066" y="406521"/>
                </a:lnTo>
                <a:lnTo>
                  <a:pt x="0" y="4065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3493371" y="4721310"/>
            <a:ext cx="10625736" cy="458158"/>
          </a:xfrm>
          <a:custGeom>
            <a:avLst/>
            <a:gdLst/>
            <a:ahLst/>
            <a:cxnLst/>
            <a:rect r="r" b="b" t="t" l="l"/>
            <a:pathLst>
              <a:path h="458158" w="10625736">
                <a:moveTo>
                  <a:pt x="0" y="0"/>
                </a:moveTo>
                <a:lnTo>
                  <a:pt x="10625736" y="0"/>
                </a:lnTo>
                <a:lnTo>
                  <a:pt x="10625736" y="458157"/>
                </a:lnTo>
                <a:lnTo>
                  <a:pt x="0" y="45815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3493371" y="3732354"/>
            <a:ext cx="520843" cy="500009"/>
          </a:xfrm>
          <a:custGeom>
            <a:avLst/>
            <a:gdLst/>
            <a:ahLst/>
            <a:cxnLst/>
            <a:rect r="r" b="b" t="t" l="l"/>
            <a:pathLst>
              <a:path h="500009" w="520843">
                <a:moveTo>
                  <a:pt x="0" y="0"/>
                </a:moveTo>
                <a:lnTo>
                  <a:pt x="520842" y="0"/>
                </a:lnTo>
                <a:lnTo>
                  <a:pt x="520842" y="500009"/>
                </a:lnTo>
                <a:lnTo>
                  <a:pt x="0" y="5000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4218978" y="3701206"/>
            <a:ext cx="5265844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Step 1: 임시 공간에 컴파일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3493371" y="6473880"/>
            <a:ext cx="520843" cy="500009"/>
          </a:xfrm>
          <a:custGeom>
            <a:avLst/>
            <a:gdLst/>
            <a:ahLst/>
            <a:cxnLst/>
            <a:rect r="r" b="b" t="t" l="l"/>
            <a:pathLst>
              <a:path h="500009" w="520843">
                <a:moveTo>
                  <a:pt x="0" y="0"/>
                </a:moveTo>
                <a:lnTo>
                  <a:pt x="520842" y="0"/>
                </a:lnTo>
                <a:lnTo>
                  <a:pt x="520842" y="500009"/>
                </a:lnTo>
                <a:lnTo>
                  <a:pt x="0" y="5000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4218978" y="6442731"/>
            <a:ext cx="5265844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Step 2: 실행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527108" y="5236352"/>
            <a:ext cx="1679591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목적지 설정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851900" y="5236352"/>
            <a:ext cx="1679591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인코딩 설정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324315" y="7844467"/>
            <a:ext cx="1957897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485849"/>
                </a:solidFill>
                <a:latin typeface="TDTD순고딕"/>
                <a:ea typeface="TDTD순고딕"/>
                <a:cs typeface="TDTD순고딕"/>
                <a:sym typeface="TDTD순고딕"/>
              </a:rPr>
              <a:t>classpath 설정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62856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8584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3884257" y="3581284"/>
            <a:ext cx="11241021" cy="2691512"/>
          </a:xfrm>
          <a:custGeom>
            <a:avLst/>
            <a:gdLst/>
            <a:ahLst/>
            <a:cxnLst/>
            <a:rect r="r" b="b" t="t" l="l"/>
            <a:pathLst>
              <a:path h="2691512" w="11241021">
                <a:moveTo>
                  <a:pt x="0" y="0"/>
                </a:moveTo>
                <a:lnTo>
                  <a:pt x="11241021" y="0"/>
                </a:lnTo>
                <a:lnTo>
                  <a:pt x="11241021" y="2691512"/>
                </a:lnTo>
                <a:lnTo>
                  <a:pt x="0" y="26915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6983623" y="3581284"/>
            <a:ext cx="2853034" cy="252213"/>
            <a:chOff x="0" y="0"/>
            <a:chExt cx="751416" cy="6642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51416" cy="66426"/>
            </a:xfrm>
            <a:custGeom>
              <a:avLst/>
              <a:gdLst/>
              <a:ahLst/>
              <a:cxnLst/>
              <a:rect r="r" b="b" t="t" l="l"/>
              <a:pathLst>
                <a:path h="66426" w="751416">
                  <a:moveTo>
                    <a:pt x="0" y="0"/>
                  </a:moveTo>
                  <a:lnTo>
                    <a:pt x="751416" y="0"/>
                  </a:lnTo>
                  <a:lnTo>
                    <a:pt x="751416" y="66426"/>
                  </a:lnTo>
                  <a:lnTo>
                    <a:pt x="0" y="664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751416" cy="114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901162" y="5038409"/>
            <a:ext cx="1296581" cy="261501"/>
            <a:chOff x="0" y="0"/>
            <a:chExt cx="341486" cy="6887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41486" cy="68873"/>
            </a:xfrm>
            <a:custGeom>
              <a:avLst/>
              <a:gdLst/>
              <a:ahLst/>
              <a:cxnLst/>
              <a:rect r="r" b="b" t="t" l="l"/>
              <a:pathLst>
                <a:path h="68873" w="341486">
                  <a:moveTo>
                    <a:pt x="0" y="0"/>
                  </a:moveTo>
                  <a:lnTo>
                    <a:pt x="341486" y="0"/>
                  </a:lnTo>
                  <a:lnTo>
                    <a:pt x="341486" y="68873"/>
                  </a:lnTo>
                  <a:lnTo>
                    <a:pt x="0" y="688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341486" cy="1164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2749216" y="3895891"/>
            <a:ext cx="1051249" cy="862099"/>
          </a:xfrm>
          <a:custGeom>
            <a:avLst/>
            <a:gdLst/>
            <a:ahLst/>
            <a:cxnLst/>
            <a:rect r="r" b="b" t="t" l="l"/>
            <a:pathLst>
              <a:path h="862099" w="1051249">
                <a:moveTo>
                  <a:pt x="0" y="0"/>
                </a:moveTo>
                <a:lnTo>
                  <a:pt x="1051249" y="0"/>
                </a:lnTo>
                <a:lnTo>
                  <a:pt x="1051249" y="862099"/>
                </a:lnTo>
                <a:lnTo>
                  <a:pt x="0" y="86209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5222900" y="6948849"/>
            <a:ext cx="9484965" cy="155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public class는 </a:t>
            </a:r>
            <a:r>
              <a:rPr lang="en-US" sz="2199">
                <a:solidFill>
                  <a:srgbClr val="FF3131"/>
                </a:solidFill>
                <a:latin typeface="TDTD순고딕"/>
                <a:ea typeface="TDTD순고딕"/>
                <a:cs typeface="TDTD순고딕"/>
                <a:sym typeface="TDTD순고딕"/>
              </a:rPr>
              <a:t>대표 클래스</a:t>
            </a:r>
            <a:r>
              <a:rPr lang="en-US" sz="2199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의 성격을 갖는다.</a:t>
            </a: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→ 컴파일러 차원에서 </a:t>
            </a:r>
            <a:r>
              <a:rPr lang="en-US" sz="2199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파일명</a:t>
            </a:r>
            <a:r>
              <a:rPr lang="en-US" sz="2199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과 </a:t>
            </a:r>
            <a:r>
              <a:rPr lang="en-US" sz="2199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public class의 이름</a:t>
            </a:r>
            <a:r>
              <a:rPr lang="en-US" sz="2199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이 같아야한다는 규칙이 존재</a:t>
            </a:r>
          </a:p>
          <a:p>
            <a:pPr algn="l">
              <a:lnSpc>
                <a:spcPts val="3079"/>
              </a:lnSpc>
            </a:pPr>
          </a:p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→ public class 대신 class로 변경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416226" y="4441761"/>
            <a:ext cx="2837408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3131"/>
                </a:solidFill>
                <a:latin typeface="TDTD순고딕"/>
                <a:ea typeface="TDTD순고딕"/>
                <a:cs typeface="TDTD순고딕"/>
                <a:sym typeface="TDTD순고딕"/>
              </a:rPr>
              <a:t>public 키워드 삭제 후 재시도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62856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8584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2846729" y="3795395"/>
            <a:ext cx="6876478" cy="1676814"/>
          </a:xfrm>
          <a:custGeom>
            <a:avLst/>
            <a:gdLst/>
            <a:ahLst/>
            <a:cxnLst/>
            <a:rect r="r" b="b" t="t" l="l"/>
            <a:pathLst>
              <a:path h="1676814" w="6876478">
                <a:moveTo>
                  <a:pt x="0" y="0"/>
                </a:moveTo>
                <a:lnTo>
                  <a:pt x="6876478" y="0"/>
                </a:lnTo>
                <a:lnTo>
                  <a:pt x="6876478" y="1676814"/>
                </a:lnTo>
                <a:lnTo>
                  <a:pt x="0" y="16768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3870789" y="1304925"/>
            <a:ext cx="11215153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Single-File Source-Code Programs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822669" y="1046162"/>
            <a:ext cx="2048120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7200" b="true">
                <a:solidFill>
                  <a:srgbClr val="8CB791">
                    <a:alpha val="73725"/>
                  </a:srgbClr>
                </a:solidFill>
                <a:latin typeface="Tlab 레트로라이프 Bold"/>
                <a:ea typeface="Tlab 레트로라이프 Bold"/>
                <a:cs typeface="Tlab 레트로라이프 Bold"/>
                <a:sym typeface="Tlab 레트로라이프 Bold"/>
              </a:rPr>
              <a:t>Tip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846729" y="2910221"/>
            <a:ext cx="9140225" cy="77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Java 11부터 추가된 기능으로,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마치 python 같은 스크립트 언어처럼 바로 실행하는 것처럼 동작하는 기능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846729" y="5751830"/>
            <a:ext cx="10544337" cy="3506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주요 특징</a:t>
            </a:r>
          </a:p>
          <a:p>
            <a:pPr algn="l" marL="949959" indent="-316653" lvl="2">
              <a:lnSpc>
                <a:spcPts val="3079"/>
              </a:lnSpc>
              <a:buFont typeface="Arial"/>
              <a:buChar char="⚬"/>
            </a:pPr>
            <a:r>
              <a:rPr lang="en-US" b="true" sz="2199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자동 컴파일:</a:t>
            </a:r>
            <a:r>
              <a:rPr lang="en-US" sz="2199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컴파일-실행 자동화</a:t>
            </a:r>
          </a:p>
          <a:p>
            <a:pPr algn="l" marL="949959" indent="-316653" lvl="2">
              <a:lnSpc>
                <a:spcPts val="3079"/>
              </a:lnSpc>
              <a:buFont typeface="Arial"/>
              <a:buChar char="⚬"/>
            </a:pPr>
            <a:r>
              <a:rPr lang="en-US" b="true" sz="2199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메모리 실행:</a:t>
            </a:r>
            <a:r>
              <a:rPr lang="en-US" sz="2199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바이트코드 파일을 디스크에 저장하지 않음</a:t>
            </a:r>
          </a:p>
          <a:p>
            <a:pPr algn="l" marL="949959" indent="-316653" lvl="2">
              <a:lnSpc>
                <a:spcPts val="3079"/>
              </a:lnSpc>
              <a:buFont typeface="Arial"/>
              <a:buChar char="⚬"/>
            </a:pPr>
            <a:r>
              <a:rPr lang="en-US" b="true" sz="2199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메인 클래스 지정:</a:t>
            </a:r>
            <a:r>
              <a:rPr lang="en-US" sz="2199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내부에 있는 단일 public static void main(String[] args)을 갖는 클래스를 엔트리 포인트 설정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단점</a:t>
            </a:r>
          </a:p>
          <a:p>
            <a:pPr algn="l" marL="949959" indent="-316653" lvl="2">
              <a:lnSpc>
                <a:spcPts val="3079"/>
              </a:lnSpc>
              <a:buFont typeface="Arial"/>
              <a:buChar char="⚬"/>
            </a:pPr>
            <a:r>
              <a:rPr lang="en-US" sz="2199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여러 파일의 컴파일 및 의존성 관리에는 부적합</a:t>
            </a:r>
          </a:p>
          <a:p>
            <a:pPr algn="l" marL="949959" indent="-316653" lvl="2">
              <a:lnSpc>
                <a:spcPts val="3079"/>
              </a:lnSpc>
              <a:buFont typeface="Arial"/>
              <a:buChar char="⚬"/>
            </a:pPr>
            <a:r>
              <a:rPr lang="en-US" sz="2199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외부 라이브러리 추가가 제한됨.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12556104" y="3747770"/>
            <a:ext cx="3596811" cy="66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FF3131"/>
                </a:solidFill>
                <a:latin typeface="TDTD순고딕"/>
                <a:ea typeface="TDTD순고딕"/>
                <a:cs typeface="TDTD순고딕"/>
                <a:sym typeface="TDTD순고딕"/>
              </a:rPr>
              <a:t>주의: 실제 클래스명이 한글이면 컴파일 에러 발생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62856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8584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3381214" y="1268095"/>
            <a:ext cx="6110274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485849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정리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822669" y="1046162"/>
            <a:ext cx="2048120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7200" b="true">
                <a:solidFill>
                  <a:srgbClr val="8CB791">
                    <a:alpha val="73725"/>
                  </a:srgbClr>
                </a:solidFill>
                <a:latin typeface="Tlab 레트로라이프 Bold"/>
                <a:ea typeface="Tlab 레트로라이프 Bold"/>
                <a:cs typeface="Tlab 레트로라이프 Bold"/>
                <a:sym typeface="Tlab 레트로라이프 Bold"/>
              </a:rPr>
              <a:t>06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196941" y="2529323"/>
            <a:ext cx="11420326" cy="5863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컴파일과 실행 분리</a:t>
            </a:r>
          </a:p>
          <a:p>
            <a:pPr algn="just" marL="1036317" indent="-345439" lvl="2">
              <a:lnSpc>
                <a:spcPts val="3359"/>
              </a:lnSpc>
              <a:buFont typeface="Arial"/>
              <a:buChar char="⚬"/>
            </a:pPr>
            <a:r>
              <a:rPr lang="en-US" sz="2399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javac(컴파일)과 java(실행)의 역할이 다르며, -cp, -d 옵션으로 경로를 제어한다.</a:t>
            </a:r>
          </a:p>
          <a:p>
            <a:pPr algn="just">
              <a:lnSpc>
                <a:spcPts val="3359"/>
              </a:lnSpc>
            </a:pPr>
          </a:p>
          <a:p>
            <a:pPr algn="just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Classpath의 이해</a:t>
            </a:r>
          </a:p>
          <a:p>
            <a:pPr algn="just" marL="1036317" indent="-345439" lvl="2">
              <a:lnSpc>
                <a:spcPts val="3359"/>
              </a:lnSpc>
              <a:buFont typeface="Arial"/>
              <a:buChar char="⚬"/>
            </a:pPr>
            <a:r>
              <a:rPr lang="en-US" sz="2399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JVM은 클래스를 찾을 위치를 classpath로 결정한다.</a:t>
            </a:r>
          </a:p>
          <a:p>
            <a:pPr algn="just" marL="1036317" indent="-345439" lvl="2">
              <a:lnSpc>
                <a:spcPts val="3359"/>
              </a:lnSpc>
              <a:buFont typeface="Arial"/>
              <a:buChar char="⚬"/>
            </a:pPr>
            <a:r>
              <a:rPr lang="en-US" sz="2399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경로/라이브러리 설정이 올바르지 않으면 ClassNotFoundException 발생한다.</a:t>
            </a:r>
          </a:p>
          <a:p>
            <a:pPr algn="just">
              <a:lnSpc>
                <a:spcPts val="3359"/>
              </a:lnSpc>
            </a:pPr>
          </a:p>
          <a:p>
            <a:pPr algn="just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외부 라이브러리와 JAR Hell</a:t>
            </a:r>
          </a:p>
          <a:p>
            <a:pPr algn="just" marL="1036317" indent="-345439" lvl="2">
              <a:lnSpc>
                <a:spcPts val="3359"/>
              </a:lnSpc>
              <a:buFont typeface="Arial"/>
              <a:buChar char="⚬"/>
            </a:pPr>
            <a:r>
              <a:rPr lang="en-US" sz="2399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외부 라이브러리를 개발자가 직접 관리하기는 어렵다.</a:t>
            </a:r>
          </a:p>
          <a:p>
            <a:pPr algn="just" marL="1036317" indent="-345439" lvl="2">
              <a:lnSpc>
                <a:spcPts val="3359"/>
              </a:lnSpc>
              <a:buFont typeface="Arial"/>
              <a:buChar char="⚬"/>
            </a:pPr>
            <a:r>
              <a:rPr lang="en-US" sz="2399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의존성 관리 도구(Maven/Gradle)가 이 문제를 해결한다.</a:t>
            </a:r>
          </a:p>
          <a:p>
            <a:pPr algn="just">
              <a:lnSpc>
                <a:spcPts val="3359"/>
              </a:lnSpc>
            </a:pPr>
          </a:p>
          <a:p>
            <a:pPr algn="just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단일 파일 실행 모드(Single-File Source Code Program)</a:t>
            </a:r>
          </a:p>
          <a:p>
            <a:pPr algn="just" marL="1036317" indent="-345439" lvl="2">
              <a:lnSpc>
                <a:spcPts val="3359"/>
              </a:lnSpc>
              <a:buFont typeface="Arial"/>
              <a:buChar char="⚬"/>
            </a:pPr>
            <a:r>
              <a:rPr lang="en-US" sz="2399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java Hello.java 한 줄로 실행 가능하다.</a:t>
            </a:r>
          </a:p>
          <a:p>
            <a:pPr algn="just" marL="1036317" indent="-345439" lvl="2">
              <a:lnSpc>
                <a:spcPts val="3359"/>
              </a:lnSpc>
              <a:spcBef>
                <a:spcPct val="0"/>
              </a:spcBef>
              <a:buFont typeface="Arial"/>
              <a:buChar char="⚬"/>
            </a:pPr>
            <a:r>
              <a:rPr lang="en-US" sz="2399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자동 컴파일 + 메모리 실행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62856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658C6A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7378252" y="5798541"/>
            <a:ext cx="3531496" cy="1508912"/>
          </a:xfrm>
          <a:custGeom>
            <a:avLst/>
            <a:gdLst/>
            <a:ahLst/>
            <a:cxnLst/>
            <a:rect r="r" b="b" t="t" l="l"/>
            <a:pathLst>
              <a:path h="1508912" w="3531496">
                <a:moveTo>
                  <a:pt x="0" y="0"/>
                </a:moveTo>
                <a:lnTo>
                  <a:pt x="3531496" y="0"/>
                </a:lnTo>
                <a:lnTo>
                  <a:pt x="3531496" y="1508912"/>
                </a:lnTo>
                <a:lnTo>
                  <a:pt x="0" y="15089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5673298" y="3808171"/>
            <a:ext cx="6941403" cy="1552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741"/>
              </a:lnSpc>
            </a:pPr>
            <a:r>
              <a:rPr lang="en-US" sz="9100">
                <a:solidFill>
                  <a:srgbClr val="8CB791"/>
                </a:solidFill>
                <a:latin typeface="Tlab 레트로라이프"/>
                <a:ea typeface="Tlab 레트로라이프"/>
                <a:cs typeface="Tlab 레트로라이프"/>
                <a:sym typeface="Tlab 레트로라이프"/>
              </a:rP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DAGyizMiTqY</dc:identifier>
  <dcterms:modified xsi:type="dcterms:W3CDTF">2011-08-01T06:04:30Z</dcterms:modified>
  <cp:revision>1</cp:revision>
  <dc:title>IDE없이JAVA개발해보기_세미나</dc:title>
</cp:coreProperties>
</file>