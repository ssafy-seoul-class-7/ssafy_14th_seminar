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embeddedFontLst>
    <p:embeddedFont>
      <p:font typeface="Jua" panose="020B0600000101010101" charset="-127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01" d="100"/>
          <a:sy n="201" d="100"/>
        </p:scale>
        <p:origin x="654" y="1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fa125fa4e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fa125fa4e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ee691909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ee691909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fa125fa4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fa125fa4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fa125fa4e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fa125fa4e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fa125fa4e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fa125fa4e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ee691909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ee691909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f17c82ac2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f17c82ac2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0d2086c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0d2086cb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ee691909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ee691909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f17c82ac2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7f17c82ac2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" sz="1400" b="1">
                <a:solidFill>
                  <a:schemeClr val="dk1"/>
                </a:solidFill>
              </a:rPr>
              <a:t>개발 배경:</a:t>
            </a:r>
            <a:r>
              <a:rPr lang="ko" sz="1400">
                <a:solidFill>
                  <a:schemeClr val="dk1"/>
                </a:solidFill>
              </a:rPr>
              <a:t> 구글은 2017년 Flutter를 처음 공개하며 </a:t>
            </a:r>
            <a:r>
              <a:rPr lang="ko" sz="1400" b="1">
                <a:solidFill>
                  <a:schemeClr val="dk1"/>
                </a:solidFill>
              </a:rPr>
              <a:t>"아름다운 앱을 빠르게 만드는"</a:t>
            </a:r>
            <a:r>
              <a:rPr lang="ko" sz="1400">
                <a:solidFill>
                  <a:schemeClr val="dk1"/>
                </a:solidFill>
              </a:rPr>
              <a:t> 것을 목표로 내세웠습니다. 웹 기술을 활용한 React Native와 달리, Flutter는 **자체 렌더링 엔진(Skia)**을 사용하여 UI를 직접 그리는 방식을 택했습니다. 이 덕분에 개발자가 의도한 디자인을 모든 플랫폼에서 완벽하게 동일하게 구현할 수 있습니다.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" sz="1400" b="1">
                <a:solidFill>
                  <a:schemeClr val="dk1"/>
                </a:solidFill>
              </a:rPr>
              <a:t>다트(Dart):</a:t>
            </a:r>
            <a:r>
              <a:rPr lang="ko" sz="1400">
                <a:solidFill>
                  <a:schemeClr val="dk1"/>
                </a:solidFill>
              </a:rPr>
              <a:t> Flutter는 </a:t>
            </a:r>
            <a:r>
              <a:rPr lang="ko" sz="1400" b="1">
                <a:solidFill>
                  <a:schemeClr val="dk1"/>
                </a:solidFill>
              </a:rPr>
              <a:t>Dart</a:t>
            </a:r>
            <a:r>
              <a:rPr lang="ko" sz="1400">
                <a:solidFill>
                  <a:schemeClr val="dk1"/>
                </a:solidFill>
              </a:rPr>
              <a:t>라는 언어를 사용합니다. 이는 구글이 개발한 언어로, 자바스크립트보다 </a:t>
            </a:r>
            <a:r>
              <a:rPr lang="ko" sz="1400" b="1">
                <a:solidFill>
                  <a:schemeClr val="dk1"/>
                </a:solidFill>
              </a:rPr>
              <a:t>더 안정적이고 체계적인 구조</a:t>
            </a:r>
            <a:r>
              <a:rPr lang="ko" sz="1400">
                <a:solidFill>
                  <a:schemeClr val="dk1"/>
                </a:solidFill>
              </a:rPr>
              <a:t>를 가지고 있어 대규모 프로젝트에 적합합니다. 또한, </a:t>
            </a:r>
            <a:r>
              <a:rPr lang="ko" sz="1400" b="1">
                <a:solidFill>
                  <a:schemeClr val="dk1"/>
                </a:solidFill>
              </a:rPr>
              <a:t>핫 리로드</a:t>
            </a:r>
            <a:r>
              <a:rPr lang="ko" sz="1400">
                <a:solidFill>
                  <a:schemeClr val="dk1"/>
                </a:solidFill>
              </a:rPr>
              <a:t> 기능을 지원해 코드를 수정하면 앱 화면에 즉시 반영되는 등 개발 효율성이 매우 높습니다.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chemeClr val="dk1"/>
                </a:solidFill>
              </a:rPr>
              <a:t>성능과 생태계:</a:t>
            </a:r>
            <a:r>
              <a:rPr lang="ko" sz="1400">
                <a:solidFill>
                  <a:schemeClr val="dk1"/>
                </a:solidFill>
              </a:rPr>
              <a:t> Flutter는 자체 렌더링 엔진을 사용해 UI를 직접 그리기 때문에 </a:t>
            </a:r>
            <a:r>
              <a:rPr lang="ko" sz="1400" b="1">
                <a:solidFill>
                  <a:schemeClr val="dk1"/>
                </a:solidFill>
              </a:rPr>
              <a:t>뛰어난 성능</a:t>
            </a:r>
            <a:r>
              <a:rPr lang="ko" sz="1400">
                <a:solidFill>
                  <a:schemeClr val="dk1"/>
                </a:solidFill>
              </a:rPr>
              <a:t>을 자랑하며, 복잡한 UI나 애니메이션 구현에 강점을 보입니다.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0d2086cb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0d2086cb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" sz="1400" b="1">
                <a:solidFill>
                  <a:schemeClr val="dk1"/>
                </a:solidFill>
              </a:rPr>
              <a:t>개발 배경:</a:t>
            </a:r>
            <a:r>
              <a:rPr lang="ko" sz="1400">
                <a:solidFill>
                  <a:schemeClr val="dk1"/>
                </a:solidFill>
              </a:rPr>
              <a:t> 구글은 2017년 Flutter를 처음 공개하며 </a:t>
            </a:r>
            <a:r>
              <a:rPr lang="ko" sz="1400" b="1">
                <a:solidFill>
                  <a:schemeClr val="dk1"/>
                </a:solidFill>
              </a:rPr>
              <a:t>"아름다운 앱을 빠르게 만드는"</a:t>
            </a:r>
            <a:r>
              <a:rPr lang="ko" sz="1400">
                <a:solidFill>
                  <a:schemeClr val="dk1"/>
                </a:solidFill>
              </a:rPr>
              <a:t> 것을 목표로 내세웠습니다. 웹 기술을 활용한 React Native와 달리, Flutter는 **자체 렌더링 엔진(Skia)**을 사용하여 UI를 직접 그리는 방식을 택했습니다. 이 덕분에 개발자가 의도한 디자인을 모든 플랫폼에서 완벽하게 동일하게 구현할 수 있습니다.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" sz="1400" b="1">
                <a:solidFill>
                  <a:schemeClr val="dk1"/>
                </a:solidFill>
              </a:rPr>
              <a:t>다트(Dart):</a:t>
            </a:r>
            <a:r>
              <a:rPr lang="ko" sz="1400">
                <a:solidFill>
                  <a:schemeClr val="dk1"/>
                </a:solidFill>
              </a:rPr>
              <a:t> Flutter는 </a:t>
            </a:r>
            <a:r>
              <a:rPr lang="ko" sz="1400" b="1">
                <a:solidFill>
                  <a:schemeClr val="dk1"/>
                </a:solidFill>
              </a:rPr>
              <a:t>Dart</a:t>
            </a:r>
            <a:r>
              <a:rPr lang="ko" sz="1400">
                <a:solidFill>
                  <a:schemeClr val="dk1"/>
                </a:solidFill>
              </a:rPr>
              <a:t>라는 언어를 사용합니다. 이는 구글이 개발한 언어로, 자바스크립트보다 </a:t>
            </a:r>
            <a:r>
              <a:rPr lang="ko" sz="1400" b="1">
                <a:solidFill>
                  <a:schemeClr val="dk1"/>
                </a:solidFill>
              </a:rPr>
              <a:t>더 안정적이고 체계적인 구조</a:t>
            </a:r>
            <a:r>
              <a:rPr lang="ko" sz="1400">
                <a:solidFill>
                  <a:schemeClr val="dk1"/>
                </a:solidFill>
              </a:rPr>
              <a:t>를 가지고 있어 대규모 프로젝트에 적합합니다. 또한, </a:t>
            </a:r>
            <a:r>
              <a:rPr lang="ko" sz="1400" b="1">
                <a:solidFill>
                  <a:schemeClr val="dk1"/>
                </a:solidFill>
              </a:rPr>
              <a:t>핫 리로드</a:t>
            </a:r>
            <a:r>
              <a:rPr lang="ko" sz="1400">
                <a:solidFill>
                  <a:schemeClr val="dk1"/>
                </a:solidFill>
              </a:rPr>
              <a:t> 기능을 지원해 코드를 수정하면 앱 화면에 즉시 반영되는 등 개발 효율성이 매우 높습니다.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400" b="1">
                <a:solidFill>
                  <a:schemeClr val="dk1"/>
                </a:solidFill>
              </a:rPr>
              <a:t>성능과 생태계:</a:t>
            </a:r>
            <a:r>
              <a:rPr lang="ko" sz="1400">
                <a:solidFill>
                  <a:schemeClr val="dk1"/>
                </a:solidFill>
              </a:rPr>
              <a:t> Flutter는 자체 렌더링 엔진을 사용해 UI를 직접 그리기 때문에 </a:t>
            </a:r>
            <a:r>
              <a:rPr lang="ko" sz="1400" b="1">
                <a:solidFill>
                  <a:schemeClr val="dk1"/>
                </a:solidFill>
              </a:rPr>
              <a:t>뛰어난 성능</a:t>
            </a:r>
            <a:r>
              <a:rPr lang="ko" sz="1400">
                <a:solidFill>
                  <a:schemeClr val="dk1"/>
                </a:solidFill>
              </a:rPr>
              <a:t>을 자랑하며, 복잡한 UI나 애니메이션 구현에 강점을 보입니다.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f17c82ac2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f17c82ac2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ee691909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ee691909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ee691909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ee691909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SDK가 설치된 </a:t>
            </a:r>
            <a:r>
              <a:rPr lang="ko" b="1">
                <a:solidFill>
                  <a:schemeClr val="dk1"/>
                </a:solidFill>
              </a:rPr>
              <a:t>앱의 수 퍼센트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solidFill>
                  <a:schemeClr val="dk1"/>
                </a:solidFill>
              </a:rPr>
              <a:t>하나의 앱에 여러 개의 SDK가 동시에 사용될 수 있기 때문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0d2086cb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0d2086cb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SDK가 설치된 </a:t>
            </a:r>
            <a:r>
              <a:rPr lang="ko" b="1">
                <a:solidFill>
                  <a:schemeClr val="dk1"/>
                </a:solidFill>
              </a:rPr>
              <a:t>앱의 수 퍼센트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solidFill>
                  <a:schemeClr val="dk1"/>
                </a:solidFill>
              </a:rPr>
              <a:t>하나의 앱에 여러 개의 SDK가 동시에 사용될 수 있기 때문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f17c82ac2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7f17c82ac2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f17c82ac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7f17c82ac2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f17c82ac2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7f17c82ac2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f17c82ac2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7f17c82ac2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fa125fa4e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7fa125fa4e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7f17c82ac2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7f17c82ac2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0d2086cb2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80d2086cb2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f17c82ac2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7f17c82ac2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0d2086cb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80d2086cb2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7fa125fa4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7fa125fa4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7fa125fa4e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7fa125fa4e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f17c82ac2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7f17c82ac2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7f17c82ac2_3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7f17c82ac2_3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80d2086cb2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80d2086cb2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7f17c82ac2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7f17c82ac2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makeitnew.io/cross-platform-mobile-development-trends-you-need-to-know-in-2025-a00ff6cc34f3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6982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크로스 플랫폼</a:t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React-Native</a:t>
            </a:r>
            <a:r>
              <a:rPr lang="ko">
                <a:latin typeface="Jua"/>
                <a:ea typeface="Jua"/>
                <a:cs typeface="Jua"/>
                <a:sym typeface="Jua"/>
              </a:rPr>
              <a:t>, </a:t>
            </a:r>
            <a:r>
              <a:rPr lang="ko">
                <a:solidFill>
                  <a:srgbClr val="3ABEEF"/>
                </a:solidFill>
                <a:latin typeface="Jua"/>
                <a:ea typeface="Jua"/>
                <a:cs typeface="Jua"/>
                <a:sym typeface="Jua"/>
              </a:rPr>
              <a:t>Flutter</a:t>
            </a:r>
            <a:endParaRPr>
              <a:solidFill>
                <a:srgbClr val="3ABEEF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크로스 플랫폼이란?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250825" y="3283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크로스 플랫폼의 등장배경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65" name="Google Shape;65;p15" title="6387b57968a064fae5427000_fIPLZi5D2KEdZS4nQgSZgWOUktACBQQlmJkp-hTMP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000" y="1165925"/>
            <a:ext cx="2396924" cy="2811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15"/>
          <p:cNvGrpSpPr/>
          <p:nvPr/>
        </p:nvGrpSpPr>
        <p:grpSpPr>
          <a:xfrm>
            <a:off x="5029363" y="961963"/>
            <a:ext cx="3219575" cy="3219575"/>
            <a:chOff x="5775788" y="1839500"/>
            <a:chExt cx="3219575" cy="3219575"/>
          </a:xfrm>
        </p:grpSpPr>
        <p:sp>
          <p:nvSpPr>
            <p:cNvPr id="67" name="Google Shape;67;p15"/>
            <p:cNvSpPr/>
            <p:nvPr/>
          </p:nvSpPr>
          <p:spPr>
            <a:xfrm>
              <a:off x="6076825" y="2062675"/>
              <a:ext cx="2617500" cy="28356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8" name="Google Shape;68;p15" title="apple.png"/>
            <p:cNvPicPr preferRelativeResize="0"/>
            <p:nvPr/>
          </p:nvPicPr>
          <p:blipFill rotWithShape="1">
            <a:blip r:embed="rId4">
              <a:alphaModFix/>
            </a:blip>
            <a:srcRect t="-1900" b="1900"/>
            <a:stretch/>
          </p:blipFill>
          <p:spPr>
            <a:xfrm>
              <a:off x="5775787" y="1839500"/>
              <a:ext cx="3219575" cy="3219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5"/>
          <p:cNvSpPr txBox="1"/>
          <p:nvPr/>
        </p:nvSpPr>
        <p:spPr>
          <a:xfrm>
            <a:off x="2046067" y="4119825"/>
            <a:ext cx="85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Android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6431408" y="4119825"/>
            <a:ext cx="41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Ios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250825" y="3283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크로스 플랫폼의 등장배경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76" name="Google Shape;76;p16" title="Generated Image September 16, 2025 - 4_04P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3187" y="901075"/>
            <a:ext cx="3937626" cy="393762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99675" y="2363775"/>
            <a:ext cx="23943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Swift/Objective-C</a:t>
            </a:r>
            <a:endParaRPr sz="21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6954925" y="2317800"/>
            <a:ext cx="16503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Kotlin/Java</a:t>
            </a:r>
            <a:endParaRPr sz="21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250825" y="3283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크로스 플랫폼의 등장배경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84" name="Google Shape;84;p17" title="Generated Image September 16, 2025 - 3_55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0688" y="1007363"/>
            <a:ext cx="3542625" cy="35426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537050" y="2371650"/>
            <a:ext cx="16503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개발 인력 2배</a:t>
            </a:r>
            <a:endParaRPr sz="21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6868000" y="2317800"/>
            <a:ext cx="16503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유지 보수 두배</a:t>
            </a:r>
            <a:endParaRPr sz="21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크로스 플랫폼들 소개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React-Native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6925" y="1376538"/>
            <a:ext cx="1810152" cy="161122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1455800" y="3494925"/>
            <a:ext cx="685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>
                <a:solidFill>
                  <a:schemeClr val="dk1"/>
                </a:solidFill>
              </a:rPr>
              <a:t>한번 배우면 어디서든 쓸 수 있다 (Learn Once, Write Anywhere)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9600" y="1740538"/>
            <a:ext cx="1810152" cy="161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Meta_Platforms_logo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6725" y="1630949"/>
            <a:ext cx="2775949" cy="18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/>
        </p:nvSpPr>
        <p:spPr>
          <a:xfrm>
            <a:off x="6330875" y="3513475"/>
            <a:ext cx="128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React-Native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2279400" y="3513475"/>
            <a:ext cx="630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Meta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React-Native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550" y="2020896"/>
            <a:ext cx="1258776" cy="112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 title="Unofficial_JavaScript_logo_2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7100" y="2143273"/>
            <a:ext cx="875675" cy="87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 txBox="1"/>
          <p:nvPr/>
        </p:nvSpPr>
        <p:spPr>
          <a:xfrm>
            <a:off x="2201800" y="3478075"/>
            <a:ext cx="80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JS 사용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115" name="Google Shape;115;p21" title="N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4200" y="1343923"/>
            <a:ext cx="2455651" cy="245565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/>
        </p:nvSpPr>
        <p:spPr>
          <a:xfrm>
            <a:off x="5281450" y="3522100"/>
            <a:ext cx="294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npm 과 같은 방대한 커뮤니티 사용 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React-Native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Flutter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123" name="Google Shape;123;p22" title="63018720eab248248ff88ee3_1bd86e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5650" y="1154675"/>
            <a:ext cx="2192700" cy="219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2"/>
          <p:cNvSpPr txBox="1"/>
          <p:nvPr/>
        </p:nvSpPr>
        <p:spPr>
          <a:xfrm>
            <a:off x="2262325" y="3692750"/>
            <a:ext cx="557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>
                <a:solidFill>
                  <a:schemeClr val="dk1"/>
                </a:solidFill>
              </a:rPr>
              <a:t>모든 것이 위젯이다 (Everything is a Widget)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3" title="63018720eab248248ff88ee3_1bd86e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7650" y="1716300"/>
            <a:ext cx="2192700" cy="219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 title="6387a821435e20cd92513fd9_T6p_0-XGvLumNG0oTyGqfBysr3_I2bWHCAa_uB6iuE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250" y="1612838"/>
            <a:ext cx="3925601" cy="261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/>
        </p:nvSpPr>
        <p:spPr>
          <a:xfrm>
            <a:off x="6262750" y="3986450"/>
            <a:ext cx="91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Flutter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2013350" y="3829075"/>
            <a:ext cx="73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Google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Flutter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24"/>
          <p:cNvGrpSpPr/>
          <p:nvPr/>
        </p:nvGrpSpPr>
        <p:grpSpPr>
          <a:xfrm>
            <a:off x="721625" y="1942654"/>
            <a:ext cx="3586683" cy="1258184"/>
            <a:chOff x="56400" y="1080200"/>
            <a:chExt cx="5068800" cy="1778100"/>
          </a:xfrm>
        </p:grpSpPr>
        <p:sp>
          <p:nvSpPr>
            <p:cNvPr id="139" name="Google Shape;139;p24"/>
            <p:cNvSpPr/>
            <p:nvPr/>
          </p:nvSpPr>
          <p:spPr>
            <a:xfrm>
              <a:off x="56400" y="1080200"/>
              <a:ext cx="5068800" cy="1778100"/>
            </a:xfrm>
            <a:prstGeom prst="roundRect">
              <a:avLst>
                <a:gd name="adj" fmla="val 851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4700" tIns="64700" rIns="64700" bIns="64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90"/>
            </a:p>
          </p:txBody>
        </p:sp>
        <p:pic>
          <p:nvPicPr>
            <p:cNvPr id="140" name="Google Shape;140;p24" title="Dart_programming_language_logo.svg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170125"/>
              <a:ext cx="4876800" cy="1524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1" name="Google Shape;141;p24"/>
          <p:cNvSpPr txBox="1"/>
          <p:nvPr/>
        </p:nvSpPr>
        <p:spPr>
          <a:xfrm>
            <a:off x="4914600" y="2179200"/>
            <a:ext cx="422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9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Skia 엔진 사용</a:t>
            </a:r>
            <a:endParaRPr sz="39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42" name="Google Shape;142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Flutter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어떤 서비스를 선택해야될까?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두 플랫폼을 선택할 때 중요성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9703"/>
            <a:ext cx="8839203" cy="320629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/>
        </p:nvSpPr>
        <p:spPr>
          <a:xfrm>
            <a:off x="6860175" y="4775075"/>
            <a:ext cx="2047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자료 출처 : https://www.youtube.com/watch?v=b_6CjuvVg8o&amp;t</a:t>
            </a:r>
            <a:endParaRPr sz="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시장 플랫폼 점유율 현황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6860175" y="4775075"/>
            <a:ext cx="2047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자료 출처 : https://appfigures.com/top-sdks/development/all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900" y="1102150"/>
            <a:ext cx="7730249" cy="330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시장 플랫폼 점유율 현황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6860175" y="4775075"/>
            <a:ext cx="2047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자료 출처 : hhttps://www.statista.com/statistics/1538085/reach-native-flutter-app-monthly-revenue/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168" name="Google Shape;1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9988" y="1104288"/>
            <a:ext cx="5844024" cy="35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solidFill>
                  <a:srgbClr val="61DAFB"/>
                </a:solidFill>
              </a:rPr>
              <a:t>React-Native</a:t>
            </a:r>
            <a:endParaRPr b="1">
              <a:solidFill>
                <a:srgbClr val="61DAFB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React 와 React-Native 얼마나 유사한가?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179" name="Google Shape;179;p30" title="carbon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100" y="1120850"/>
            <a:ext cx="3093495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0" title="carbon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5" y="1120850"/>
            <a:ext cx="4144072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latin typeface="Jua"/>
                <a:ea typeface="Jua"/>
                <a:cs typeface="Jua"/>
                <a:sym typeface="Jua"/>
              </a:rPr>
              <a:t>CodePush란?</a:t>
            </a:r>
            <a:endParaRPr b="1"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186" name="Google Shape;186;p31" title="638a619b06463448e3bd875d_TQdHLsvaQC5v3LBi7a_68qvuEnzjb9xd-jPG2_u8EZ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100" y="1897125"/>
            <a:ext cx="1465951" cy="1465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1" title="630e2a7f4789d50754fe5e4b_102c696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5675" y="2141138"/>
            <a:ext cx="1905674" cy="190567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1"/>
          <p:cNvSpPr/>
          <p:nvPr/>
        </p:nvSpPr>
        <p:spPr>
          <a:xfrm rot="10800000">
            <a:off x="3369288" y="3172763"/>
            <a:ext cx="2264100" cy="225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1"/>
          <p:cNvSpPr txBox="1"/>
          <p:nvPr/>
        </p:nvSpPr>
        <p:spPr>
          <a:xfrm>
            <a:off x="879675" y="3363075"/>
            <a:ext cx="67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Kotlin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90" name="Google Shape;190;p31"/>
          <p:cNvSpPr txBox="1"/>
          <p:nvPr/>
        </p:nvSpPr>
        <p:spPr>
          <a:xfrm>
            <a:off x="2010423" y="3838625"/>
            <a:ext cx="61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Swift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191" name="Google Shape;191;p31" title="appstor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1325" y="898950"/>
            <a:ext cx="4113475" cy="274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1" title="playstor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5250" y="2438325"/>
            <a:ext cx="1590201" cy="16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1"/>
          <p:cNvSpPr txBox="1"/>
          <p:nvPr/>
        </p:nvSpPr>
        <p:spPr>
          <a:xfrm>
            <a:off x="6378026" y="4133100"/>
            <a:ext cx="99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PlayStore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7377924" y="3438425"/>
            <a:ext cx="99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AppStore</a:t>
            </a:r>
            <a:endParaRPr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95" name="Google Shape;195;p31"/>
          <p:cNvSpPr/>
          <p:nvPr/>
        </p:nvSpPr>
        <p:spPr>
          <a:xfrm>
            <a:off x="3369288" y="2345850"/>
            <a:ext cx="2264100" cy="225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1"/>
          <p:cNvSpPr txBox="1"/>
          <p:nvPr/>
        </p:nvSpPr>
        <p:spPr>
          <a:xfrm>
            <a:off x="3724574" y="2069675"/>
            <a:ext cx="141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수정된 앱 Push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97" name="Google Shape;197;p31"/>
          <p:cNvSpPr txBox="1"/>
          <p:nvPr/>
        </p:nvSpPr>
        <p:spPr>
          <a:xfrm>
            <a:off x="4072039" y="3363075"/>
            <a:ext cx="99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Reject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latin typeface="Jua"/>
                <a:ea typeface="Jua"/>
                <a:cs typeface="Jua"/>
                <a:sym typeface="Jua"/>
              </a:rPr>
              <a:t>CodePush란?</a:t>
            </a:r>
            <a:endParaRPr b="1"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450" y="2032163"/>
            <a:ext cx="1810152" cy="161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2" title="Unofficial_JavaScript_logo_2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8175" y="1696073"/>
            <a:ext cx="875675" cy="87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2"/>
          <p:cNvSpPr/>
          <p:nvPr/>
        </p:nvSpPr>
        <p:spPr>
          <a:xfrm>
            <a:off x="3138663" y="2842675"/>
            <a:ext cx="2414700" cy="241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6" name="Google Shape;206;p32" title="appstor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1325" y="898950"/>
            <a:ext cx="4113475" cy="274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2" title="playstor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5250" y="2438325"/>
            <a:ext cx="1590201" cy="16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2"/>
          <p:cNvSpPr txBox="1"/>
          <p:nvPr/>
        </p:nvSpPr>
        <p:spPr>
          <a:xfrm>
            <a:off x="6378026" y="4133100"/>
            <a:ext cx="99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PlayStore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09" name="Google Shape;209;p32"/>
          <p:cNvSpPr txBox="1"/>
          <p:nvPr/>
        </p:nvSpPr>
        <p:spPr>
          <a:xfrm>
            <a:off x="7377923" y="3438425"/>
            <a:ext cx="999899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AppStore</a:t>
            </a:r>
            <a:endParaRPr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10" name="Google Shape;210;p32"/>
          <p:cNvSpPr txBox="1"/>
          <p:nvPr/>
        </p:nvSpPr>
        <p:spPr>
          <a:xfrm>
            <a:off x="1153575" y="3838625"/>
            <a:ext cx="128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React-Native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3765962" y="3085600"/>
            <a:ext cx="141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JS 만 수정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12" name="Google Shape;212;p32"/>
          <p:cNvSpPr txBox="1"/>
          <p:nvPr/>
        </p:nvSpPr>
        <p:spPr>
          <a:xfrm>
            <a:off x="5648325" y="1841400"/>
            <a:ext cx="1139625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 dirty="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PASS</a:t>
            </a:r>
            <a:endParaRPr sz="2600" dirty="0">
              <a:solidFill>
                <a:srgbClr val="61DAFB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CodePush의 장점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18" name="Google Shape;218;p33"/>
          <p:cNvSpPr txBox="1"/>
          <p:nvPr/>
        </p:nvSpPr>
        <p:spPr>
          <a:xfrm>
            <a:off x="728275" y="1435000"/>
            <a:ext cx="71151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- </a:t>
            </a:r>
            <a:r>
              <a:rPr lang="ko" sz="180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배포 주기</a:t>
            </a:r>
            <a:r>
              <a:rPr lang="ko" sz="1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 단축 : 앱 스토어의 긴 </a:t>
            </a:r>
            <a:r>
              <a:rPr lang="ko" sz="180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심사 과정을 생략</a:t>
            </a:r>
            <a:r>
              <a:rPr lang="ko" sz="1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하고, 즉시 업데이트를 배포</a:t>
            </a:r>
            <a:br>
              <a:rPr lang="ko" sz="1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br>
              <a:rPr lang="ko" sz="1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- 즉각적인 </a:t>
            </a:r>
            <a:r>
              <a:rPr lang="ko" sz="180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버그 수정 </a:t>
            </a:r>
            <a:r>
              <a:rPr lang="ko" sz="1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 심각한 버그가 발생했을 때, 사용자들이 앱을 </a:t>
            </a:r>
            <a:r>
              <a:rPr lang="ko" sz="180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재설치할 필요 없이 빠르게 패치</a:t>
            </a:r>
            <a:r>
              <a:rPr lang="ko" sz="1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를 적용</a:t>
            </a:r>
            <a:br>
              <a:rPr lang="ko" sz="1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br>
              <a:rPr lang="ko" sz="1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- </a:t>
            </a:r>
            <a:r>
              <a:rPr lang="ko" sz="180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점진적</a:t>
            </a:r>
            <a:r>
              <a:rPr lang="ko" sz="1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 배포 : 모든 사용자에게 한꺼번에 배포하지 않고, </a:t>
            </a:r>
            <a:r>
              <a:rPr lang="ko" sz="180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특정 사용자 그룹</a:t>
            </a:r>
            <a:r>
              <a:rPr lang="ko" sz="1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에 먼저 업데이트를 테스트</a:t>
            </a:r>
            <a:br>
              <a:rPr lang="ko" sz="1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br>
              <a:rPr lang="ko" sz="1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- </a:t>
            </a:r>
            <a:r>
              <a:rPr lang="ko" sz="180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롤백 </a:t>
            </a:r>
            <a:r>
              <a:rPr lang="ko" sz="1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기능 : 업데이트에 예기치 않은 문제가 생기면, </a:t>
            </a:r>
            <a:r>
              <a:rPr lang="ko" sz="180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즉시 이전 버전</a:t>
            </a:r>
            <a:r>
              <a:rPr lang="ko" sz="1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으로 되돌려 </a:t>
            </a:r>
            <a:r>
              <a:rPr lang="ko" sz="180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사용자 경험을 보호</a:t>
            </a:r>
            <a:endParaRPr sz="1800">
              <a:solidFill>
                <a:srgbClr val="61DAFB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215325" y="19327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solidFill>
                  <a:srgbClr val="61DAFB"/>
                </a:solidFill>
              </a:rPr>
              <a:t>React-Native</a:t>
            </a:r>
            <a:endParaRPr b="1">
              <a:solidFill>
                <a:srgbClr val="61DAFB"/>
              </a:solidFill>
            </a:endParaRPr>
          </a:p>
        </p:txBody>
      </p:sp>
      <p:sp>
        <p:nvSpPr>
          <p:cNvPr id="224" name="Google Shape;224;p34"/>
          <p:cNvSpPr txBox="1"/>
          <p:nvPr/>
        </p:nvSpPr>
        <p:spPr>
          <a:xfrm>
            <a:off x="3014775" y="2708700"/>
            <a:ext cx="2921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600" b="1">
                <a:solidFill>
                  <a:schemeClr val="dk1"/>
                </a:solidFill>
              </a:rPr>
              <a:t>CLI</a:t>
            </a:r>
            <a:r>
              <a:rPr lang="ko" sz="3600" b="1">
                <a:solidFill>
                  <a:srgbClr val="61DAFB"/>
                </a:solidFill>
              </a:rPr>
              <a:t> </a:t>
            </a:r>
            <a:r>
              <a:rPr lang="ko" sz="3600" b="1">
                <a:solidFill>
                  <a:schemeClr val="dk1"/>
                </a:solidFill>
              </a:rPr>
              <a:t>&amp; Expo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>
            <a:spLocks noGrp="1"/>
          </p:cNvSpPr>
          <p:nvPr>
            <p:ph type="title"/>
          </p:nvPr>
        </p:nvSpPr>
        <p:spPr>
          <a:xfrm>
            <a:off x="287500" y="319100"/>
            <a:ext cx="8401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latin typeface="Jua"/>
                <a:ea typeface="Jua"/>
                <a:cs typeface="Jua"/>
                <a:sym typeface="Jua"/>
              </a:rPr>
              <a:t>React-Native CLI (Command Line Interface)</a:t>
            </a:r>
            <a:endParaRPr sz="2500"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230" name="Google Shape;230;p35" title="Gemini_Generated_Image_4uig6c4uig6c4ui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50" y="976400"/>
            <a:ext cx="3946900" cy="39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6" title="carbon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2600" y="1071600"/>
            <a:ext cx="6440193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6"/>
          <p:cNvSpPr txBox="1">
            <a:spLocks noGrp="1"/>
          </p:cNvSpPr>
          <p:nvPr>
            <p:ph type="title"/>
          </p:nvPr>
        </p:nvSpPr>
        <p:spPr>
          <a:xfrm>
            <a:off x="287500" y="319100"/>
            <a:ext cx="840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latin typeface="Jua"/>
                <a:ea typeface="Jua"/>
                <a:cs typeface="Jua"/>
                <a:sym typeface="Jua"/>
              </a:rPr>
              <a:t>React-Native CLI (Command Line Interface)</a:t>
            </a:r>
            <a:endParaRPr sz="2500"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React-Native Expo</a:t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37" title="Gemini_Generated_Image_7hipz37hipz37hi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7525" y="1135950"/>
            <a:ext cx="3820977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React-Native Expo</a:t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8" name="Google Shape;248;p38" title="carbo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225" y="1120850"/>
            <a:ext cx="548623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>
            <a:spLocks noGrp="1"/>
          </p:cNvSpPr>
          <p:nvPr>
            <p:ph type="title"/>
          </p:nvPr>
        </p:nvSpPr>
        <p:spPr>
          <a:xfrm>
            <a:off x="21025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최신의 </a:t>
            </a:r>
            <a:r>
              <a:rPr lang="ko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React-Native</a:t>
            </a:r>
            <a:endParaRPr>
              <a:solidFill>
                <a:srgbClr val="61DAFB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Bridge 에서 JSI 으로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259" name="Google Shape;25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5262" y="1226775"/>
            <a:ext cx="5053475" cy="31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0"/>
          <p:cNvSpPr txBox="1"/>
          <p:nvPr/>
        </p:nvSpPr>
        <p:spPr>
          <a:xfrm>
            <a:off x="142975" y="2412288"/>
            <a:ext cx="1650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Bridge</a:t>
            </a:r>
            <a:endParaRPr sz="1800">
              <a:solidFill>
                <a:srgbClr val="61DAFB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비동기</a:t>
            </a:r>
            <a:endParaRPr sz="11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JSON 파일 직렬화</a:t>
            </a:r>
            <a:endParaRPr sz="11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61" name="Google Shape;261;p40"/>
          <p:cNvSpPr txBox="1"/>
          <p:nvPr/>
        </p:nvSpPr>
        <p:spPr>
          <a:xfrm>
            <a:off x="7308575" y="2412300"/>
            <a:ext cx="1650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JSI</a:t>
            </a:r>
            <a:endParaRPr sz="1800">
              <a:solidFill>
                <a:srgbClr val="61DAFB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동기</a:t>
            </a:r>
            <a:endParaRPr sz="11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직접적 상호작용</a:t>
            </a:r>
            <a:endParaRPr sz="11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Expo EAS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67" name="Google Shape;267;p41"/>
          <p:cNvSpPr txBox="1"/>
          <p:nvPr/>
        </p:nvSpPr>
        <p:spPr>
          <a:xfrm>
            <a:off x="798400" y="1220000"/>
            <a:ext cx="7115100" cy="3063000"/>
          </a:xfrm>
          <a:prstGeom prst="rect">
            <a:avLst/>
          </a:prstGeom>
          <a:noFill/>
          <a:ln w="9525" cap="flat" cmpd="sng">
            <a:solidFill>
              <a:srgbClr val="61D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EAS Build </a:t>
            </a:r>
            <a:r>
              <a:rPr lang="ko" sz="17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로컬 컴퓨터가 아닌 클라우드 환경에서 iOS(.ipa)와 Android(.apk) 앱 </a:t>
            </a:r>
            <a:r>
              <a:rPr lang="ko" sz="170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빌드를 자동</a:t>
            </a:r>
            <a:r>
              <a:rPr lang="ko" sz="17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으로 처리,  복잡한 네이티브 개발 환경을 직접 구축하고 관리할 필요가 없어 시간과 노력을 크게 절약할 수 있다.</a:t>
            </a:r>
            <a:endParaRPr sz="17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EAS Update</a:t>
            </a:r>
            <a:r>
              <a:rPr lang="ko" sz="17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 :  앱 스토어 심사 없이 JavaScript 코드와 에셋(이미지, 폰트 등)을 사용자 기기에 실시간으로 업데이트 해고 이를 버그 수정이나 UI 변경을 즉시 배포하여 사용자에게 신속한 경험을 제공 -&gt; </a:t>
            </a:r>
            <a:r>
              <a:rPr lang="ko" sz="170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code push 대체</a:t>
            </a:r>
            <a:endParaRPr sz="1700">
              <a:solidFill>
                <a:srgbClr val="61DAFB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EAS Submit</a:t>
            </a:r>
            <a:r>
              <a:rPr lang="ko" sz="17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 :  빌드된 앱 바이너리(.ipa, .apk)를 Apple App Store와 Google Play Store에 </a:t>
            </a:r>
            <a:r>
              <a:rPr lang="ko" sz="170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자동으로 제출</a:t>
            </a:r>
            <a:r>
              <a:rPr lang="ko" sz="17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해주는 기능 앱 스토어 배포 과정을 자동화</a:t>
            </a:r>
            <a:endParaRPr sz="17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>
            <a:spLocks noGrp="1"/>
          </p:cNvSpPr>
          <p:nvPr>
            <p:ph type="title" idx="4294967295"/>
          </p:nvPr>
        </p:nvSpPr>
        <p:spPr>
          <a:xfrm>
            <a:off x="3864750" y="2150850"/>
            <a:ext cx="141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4400">
                <a:solidFill>
                  <a:srgbClr val="61DAFB"/>
                </a:solidFill>
                <a:latin typeface="Jua"/>
                <a:ea typeface="Jua"/>
                <a:cs typeface="Jua"/>
                <a:sym typeface="Jua"/>
              </a:rPr>
              <a:t>Q</a:t>
            </a:r>
            <a:r>
              <a:rPr lang="ko" sz="4400">
                <a:latin typeface="Jua"/>
                <a:ea typeface="Jua"/>
                <a:cs typeface="Jua"/>
                <a:sym typeface="Jua"/>
              </a:rPr>
              <a:t>&amp;</a:t>
            </a:r>
            <a:r>
              <a:rPr lang="ko" sz="4400">
                <a:solidFill>
                  <a:srgbClr val="3ABEEF"/>
                </a:solidFill>
                <a:latin typeface="Jua"/>
                <a:ea typeface="Jua"/>
                <a:cs typeface="Jua"/>
                <a:sym typeface="Jua"/>
              </a:rPr>
              <a:t>A</a:t>
            </a:r>
            <a:endParaRPr sz="4500">
              <a:solidFill>
                <a:srgbClr val="3ABEEF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참고자료</a:t>
            </a:r>
            <a:endParaRPr/>
          </a:p>
        </p:txBody>
      </p:sp>
      <p:sp>
        <p:nvSpPr>
          <p:cNvPr id="278" name="Google Shape;278;p43"/>
          <p:cNvSpPr txBox="1"/>
          <p:nvPr/>
        </p:nvSpPr>
        <p:spPr>
          <a:xfrm>
            <a:off x="415950" y="1293475"/>
            <a:ext cx="8004300" cy="10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chemeClr val="dk1"/>
                </a:solidFill>
              </a:rPr>
              <a:t>toss  https://www.youtube.com/watch?v=b_6CjuvVg8o&amp;</a:t>
            </a:r>
            <a:endParaRPr sz="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700">
                <a:solidFill>
                  <a:schemeClr val="dk1"/>
                </a:solidFill>
              </a:rPr>
              <a:t>SDK가 설치된 </a:t>
            </a:r>
            <a:r>
              <a:rPr lang="ko" sz="700" b="1">
                <a:solidFill>
                  <a:schemeClr val="dk1"/>
                </a:solidFill>
              </a:rPr>
              <a:t>앱의 수 퍼센트 </a:t>
            </a:r>
            <a:r>
              <a:rPr lang="ko" sz="700" u="sng">
                <a:solidFill>
                  <a:schemeClr val="hlink"/>
                </a:solidFill>
                <a:hlinkClick r:id="rId3"/>
              </a:rPr>
              <a:t>https://makeitnew.io/cross-platform-mobile-development-trends-you-need-to-know-in-2025-a00ff6cc34f3</a:t>
            </a:r>
            <a:br>
              <a:rPr lang="ko" sz="700">
                <a:solidFill>
                  <a:schemeClr val="dk1"/>
                </a:solidFill>
              </a:rPr>
            </a:br>
            <a:br>
              <a:rPr lang="ko" sz="700">
                <a:solidFill>
                  <a:schemeClr val="dk1"/>
                </a:solidFill>
              </a:rPr>
            </a:br>
            <a:r>
              <a:rPr lang="ko" sz="700">
                <a:solidFill>
                  <a:schemeClr val="dk1"/>
                </a:solidFill>
              </a:rPr>
              <a:t>매출 관련 자료  : https://www.statista.com/statistics/1538085/reach-native-flutter-app-monthly-revenue/</a:t>
            </a:r>
            <a:endParaRPr sz="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</Words>
  <Application>Microsoft Office PowerPoint</Application>
  <PresentationFormat>화면 슬라이드 쇼(16:9)</PresentationFormat>
  <Paragraphs>86</Paragraphs>
  <Slides>31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4" baseType="lpstr">
      <vt:lpstr>Arial</vt:lpstr>
      <vt:lpstr>Jua</vt:lpstr>
      <vt:lpstr>Simple Dark</vt:lpstr>
      <vt:lpstr>크로스 플랫폼 React-Native, Flutter</vt:lpstr>
      <vt:lpstr>크로스 플랫폼이란?</vt:lpstr>
      <vt:lpstr>크로스 플랫폼의 등장배경</vt:lpstr>
      <vt:lpstr>크로스 플랫폼의 등장배경</vt:lpstr>
      <vt:lpstr>크로스 플랫폼의 등장배경</vt:lpstr>
      <vt:lpstr>크로스 플랫폼들 소개</vt:lpstr>
      <vt:lpstr>React-Native</vt:lpstr>
      <vt:lpstr>React-Native</vt:lpstr>
      <vt:lpstr>React-Native</vt:lpstr>
      <vt:lpstr>Flutter</vt:lpstr>
      <vt:lpstr>Flutter</vt:lpstr>
      <vt:lpstr>Flutter</vt:lpstr>
      <vt:lpstr>어떤 서비스를 선택해야될까?</vt:lpstr>
      <vt:lpstr>두 플랫폼을 선택할 때 중요성</vt:lpstr>
      <vt:lpstr>시장 플랫폼 점유율 현황</vt:lpstr>
      <vt:lpstr>시장 플랫폼 점유율 현황</vt:lpstr>
      <vt:lpstr>React-Native</vt:lpstr>
      <vt:lpstr>React 와 React-Native 얼마나 유사한가?</vt:lpstr>
      <vt:lpstr>CodePush란?</vt:lpstr>
      <vt:lpstr>CodePush란?</vt:lpstr>
      <vt:lpstr>CodePush의 장점</vt:lpstr>
      <vt:lpstr>React-Native</vt:lpstr>
      <vt:lpstr>React-Native CLI (Command Line Interface)</vt:lpstr>
      <vt:lpstr>React-Native CLI (Command Line Interface)</vt:lpstr>
      <vt:lpstr>React-Native Expo </vt:lpstr>
      <vt:lpstr>React-Native Expo </vt:lpstr>
      <vt:lpstr>최신의 React-Native</vt:lpstr>
      <vt:lpstr>Bridge 에서 JSI 으로</vt:lpstr>
      <vt:lpstr>Expo EAS</vt:lpstr>
      <vt:lpstr>Q&amp;A</vt:lpstr>
      <vt:lpstr>참고자료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크로스 플랫폼 React-Native, Flutter</dc:title>
  <cp:lastModifiedBy>SSAFY</cp:lastModifiedBy>
  <cp:revision>1</cp:revision>
  <dcterms:modified xsi:type="dcterms:W3CDTF">2025-09-19T01:53:23Z</dcterms:modified>
</cp:coreProperties>
</file>