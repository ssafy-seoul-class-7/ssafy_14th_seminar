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88" r:id="rId2"/>
    <p:sldId id="443" r:id="rId3"/>
    <p:sldId id="499" r:id="rId4"/>
    <p:sldId id="503" r:id="rId5"/>
    <p:sldId id="500" r:id="rId6"/>
    <p:sldId id="504" r:id="rId7"/>
    <p:sldId id="506" r:id="rId8"/>
    <p:sldId id="501" r:id="rId9"/>
    <p:sldId id="502" r:id="rId10"/>
    <p:sldId id="468" r:id="rId11"/>
    <p:sldId id="507" r:id="rId12"/>
    <p:sldId id="508" r:id="rId13"/>
    <p:sldId id="510" r:id="rId14"/>
    <p:sldId id="513" r:id="rId15"/>
    <p:sldId id="512" r:id="rId16"/>
    <p:sldId id="517" r:id="rId17"/>
    <p:sldId id="514" r:id="rId18"/>
    <p:sldId id="515" r:id="rId19"/>
    <p:sldId id="516" r:id="rId20"/>
    <p:sldId id="518" r:id="rId21"/>
    <p:sldId id="48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640" userDrawn="1">
          <p15:clr>
            <a:srgbClr val="A4A3A4"/>
          </p15:clr>
        </p15:guide>
        <p15:guide id="6" orient="horz" pos="3952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ECCB"/>
    <a:srgbClr val="115445"/>
    <a:srgbClr val="CD0F41"/>
    <a:srgbClr val="003481"/>
    <a:srgbClr val="0D0D0D"/>
    <a:srgbClr val="003058"/>
    <a:srgbClr val="1A806A"/>
    <a:srgbClr val="F2F2F2"/>
    <a:srgbClr val="B4CA31"/>
    <a:srgbClr val="1A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04" autoAdjust="0"/>
    <p:restoredTop sz="89663" autoAdjust="0"/>
  </p:normalViewPr>
  <p:slideViewPr>
    <p:cSldViewPr snapToGrid="0" showGuides="1">
      <p:cViewPr varScale="1">
        <p:scale>
          <a:sx n="98" d="100"/>
          <a:sy n="98" d="100"/>
        </p:scale>
        <p:origin x="114" y="582"/>
      </p:cViewPr>
      <p:guideLst>
        <p:guide orient="horz" pos="640"/>
        <p:guide orient="horz" pos="395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0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DD21606-E1F2-4B97-92D1-DAFD45C02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DE7504-E995-4FB2-8A43-D5D7468BF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2224D-1184-45AE-8BA6-1991448FAB4A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423F3-CAF7-4940-839A-645C7FDAD4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01FC86-7DA0-458D-A79F-F298A2B27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E0067-DAD4-47D5-9E01-EB118C352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88652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B575A-33D8-471D-8367-A965AB842AA0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702A0-409D-4B63-B3B2-61BA02D306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29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>
            <a:cxnSpLocks/>
          </p:cNvCxnSpPr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BF39CA-215A-3E2C-499B-D2E7C01BC94E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03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rgbClr val="CD0F4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/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rgbClr val="CD0F4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9B474D-82B9-2625-36DA-A9B741225884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rgbClr val="CD0F4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71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3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AB6EF6-A299-423A-A10F-E83A9B9862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965DB1-4722-46CE-A460-DE915D502201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rgbClr val="11544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B07F1-0C46-43A4-92A3-D18955B2A54E}"/>
              </a:ext>
            </a:extLst>
          </p:cNvPr>
          <p:cNvCxnSpPr/>
          <p:nvPr userDrawn="1"/>
        </p:nvCxnSpPr>
        <p:spPr>
          <a:xfrm>
            <a:off x="856527" y="1006997"/>
            <a:ext cx="8669438" cy="0"/>
          </a:xfrm>
          <a:prstGeom prst="line">
            <a:avLst/>
          </a:prstGeom>
          <a:ln w="22225">
            <a:solidFill>
              <a:srgbClr val="11544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A72096-B208-87BD-C698-6017ABB92E84}"/>
              </a:ext>
            </a:extLst>
          </p:cNvPr>
          <p:cNvSpPr/>
          <p:nvPr userDrawn="1"/>
        </p:nvSpPr>
        <p:spPr>
          <a:xfrm>
            <a:off x="0" y="0"/>
            <a:ext cx="228600" cy="1587497"/>
          </a:xfrm>
          <a:prstGeom prst="rect">
            <a:avLst/>
          </a:prstGeom>
          <a:solidFill>
            <a:srgbClr val="11544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357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8507F9-1CF9-E08D-3BF0-3B474E5E7B16}"/>
              </a:ext>
            </a:extLst>
          </p:cNvPr>
          <p:cNvSpPr/>
          <p:nvPr userDrawn="1"/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1E2E7F-8145-3920-FD4C-F46488E27B7B}"/>
              </a:ext>
            </a:extLst>
          </p:cNvPr>
          <p:cNvSpPr/>
          <p:nvPr userDrawn="1"/>
        </p:nvSpPr>
        <p:spPr>
          <a:xfrm>
            <a:off x="746760" y="6451200"/>
            <a:ext cx="11445240" cy="406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0B9A51-D3EB-8362-3C96-9E9B12C94A20}"/>
              </a:ext>
            </a:extLst>
          </p:cNvPr>
          <p:cNvCxnSpPr>
            <a:cxnSpLocks/>
          </p:cNvCxnSpPr>
          <p:nvPr userDrawn="1"/>
        </p:nvCxnSpPr>
        <p:spPr>
          <a:xfrm>
            <a:off x="746760" y="448197"/>
            <a:ext cx="11445240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994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7C1690A-53F2-AACC-E41C-FDB6A6E2FE3B}"/>
              </a:ext>
            </a:extLst>
          </p:cNvPr>
          <p:cNvSpPr/>
          <p:nvPr userDrawn="1"/>
        </p:nvSpPr>
        <p:spPr>
          <a:xfrm>
            <a:off x="0" y="1"/>
            <a:ext cx="1174830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315A6F-4D7E-4612-6651-B33F7B381F65}"/>
              </a:ext>
            </a:extLst>
          </p:cNvPr>
          <p:cNvSpPr/>
          <p:nvPr userDrawn="1"/>
        </p:nvSpPr>
        <p:spPr>
          <a:xfrm>
            <a:off x="0" y="0"/>
            <a:ext cx="468000" cy="6857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745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45F8D-DB4A-9042-1AFA-2928B8EC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30000"/>
              </a:lnSpc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B5B7A9-1442-4FEE-94B0-409B8D974480}"/>
              </a:ext>
            </a:extLst>
          </p:cNvPr>
          <p:cNvSpPr/>
          <p:nvPr userDrawn="1"/>
        </p:nvSpPr>
        <p:spPr>
          <a:xfrm>
            <a:off x="0" y="6452296"/>
            <a:ext cx="12192000" cy="40570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35254-E8CC-4107-BAB3-2D503DF0BBA9}"/>
              </a:ext>
            </a:extLst>
          </p:cNvPr>
          <p:cNvSpPr txBox="1"/>
          <p:nvPr userDrawn="1"/>
        </p:nvSpPr>
        <p:spPr>
          <a:xfrm>
            <a:off x="11264637" y="6534846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10F0811-F307-44F9-A192-63EBA736051C}" type="slidenum">
              <a:rPr lang="ko-KR" altLang="en-US" sz="110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pPr algn="r"/>
              <a:t>‹#›</a:t>
            </a:fld>
            <a:endParaRPr lang="ko-KR" altLang="en-US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45E2706-9F36-44D5-825D-E65E51DBDFB3}"/>
              </a:ext>
            </a:extLst>
          </p:cNvPr>
          <p:cNvCxnSpPr>
            <a:cxnSpLocks/>
          </p:cNvCxnSpPr>
          <p:nvPr userDrawn="1"/>
        </p:nvCxnSpPr>
        <p:spPr>
          <a:xfrm>
            <a:off x="407988" y="334209"/>
            <a:ext cx="587435" cy="0"/>
          </a:xfrm>
          <a:prstGeom prst="line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7F3E59-0969-EE7A-2BB6-E5F9B8839E9C}"/>
              </a:ext>
            </a:extLst>
          </p:cNvPr>
          <p:cNvSpPr txBox="1"/>
          <p:nvPr userDrawn="1"/>
        </p:nvSpPr>
        <p:spPr>
          <a:xfrm>
            <a:off x="8737600" y="6511402"/>
            <a:ext cx="2699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JWT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E958FD8-85E2-8BB2-890F-F2772D67A7AD}"/>
              </a:ext>
            </a:extLst>
          </p:cNvPr>
          <p:cNvCxnSpPr>
            <a:cxnSpLocks/>
          </p:cNvCxnSpPr>
          <p:nvPr userDrawn="1"/>
        </p:nvCxnSpPr>
        <p:spPr>
          <a:xfrm flipH="1">
            <a:off x="4435813" y="573498"/>
            <a:ext cx="7348201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089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 userDrawn="1">
          <p15:clr>
            <a:srgbClr val="FBAE40"/>
          </p15:clr>
        </p15:guide>
        <p15:guide id="2" pos="7423" userDrawn="1">
          <p15:clr>
            <a:srgbClr val="FBAE40"/>
          </p15:clr>
        </p15:guide>
        <p15:guide id="3" orient="horz" pos="18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C43F72-E5DE-419E-BD27-4D80F2347558}"/>
              </a:ext>
            </a:extLst>
          </p:cNvPr>
          <p:cNvSpPr/>
          <p:nvPr userDrawn="1"/>
        </p:nvSpPr>
        <p:spPr>
          <a:xfrm>
            <a:off x="-1" y="1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F09818-5DA9-6D46-D357-2D7273192870}"/>
              </a:ext>
            </a:extLst>
          </p:cNvPr>
          <p:cNvSpPr/>
          <p:nvPr userDrawn="1"/>
        </p:nvSpPr>
        <p:spPr>
          <a:xfrm>
            <a:off x="0" y="0"/>
            <a:ext cx="12192000" cy="6350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9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31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69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50" r:id="rId4"/>
    <p:sldLayoutId id="2147483663" r:id="rId5"/>
    <p:sldLayoutId id="2147483652" r:id="rId6"/>
    <p:sldLayoutId id="2147483653" r:id="rId7"/>
    <p:sldLayoutId id="2147483654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jwt.io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0B4620-3B0C-4817-A148-5CBD5E108D70}"/>
              </a:ext>
            </a:extLst>
          </p:cNvPr>
          <p:cNvSpPr txBox="1"/>
          <p:nvPr/>
        </p:nvSpPr>
        <p:spPr>
          <a:xfrm>
            <a:off x="802600" y="1144630"/>
            <a:ext cx="7577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JWT</a:t>
            </a:r>
            <a:r>
              <a:rPr lang="ko-KR" altLang="en-US" sz="36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는</a:t>
            </a:r>
            <a:r>
              <a:rPr lang="en-US" altLang="ko-KR" sz="36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36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언제 </a:t>
            </a:r>
            <a:r>
              <a:rPr lang="ko-KR" altLang="en-US" sz="36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써야할까</a:t>
            </a:r>
            <a:endParaRPr lang="en-US" altLang="ko-KR" sz="3600" b="1" spc="-15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B4FA56-5E7A-6259-72D3-B1E77F05289D}"/>
              </a:ext>
            </a:extLst>
          </p:cNvPr>
          <p:cNvSpPr txBox="1"/>
          <p:nvPr/>
        </p:nvSpPr>
        <p:spPr>
          <a:xfrm>
            <a:off x="7013883" y="5129082"/>
            <a:ext cx="3905250" cy="382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600" dirty="0">
                <a:latin typeface="+mj-lt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최종학</a:t>
            </a:r>
            <a:endParaRPr lang="en-US" altLang="ko-KR" sz="1600" dirty="0">
              <a:latin typeface="+mj-lt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89801B5-AC96-1340-0900-7A0BCA702C2F}"/>
              </a:ext>
            </a:extLst>
          </p:cNvPr>
          <p:cNvCxnSpPr>
            <a:cxnSpLocks/>
          </p:cNvCxnSpPr>
          <p:nvPr/>
        </p:nvCxnSpPr>
        <p:spPr>
          <a:xfrm>
            <a:off x="11020425" y="5191125"/>
            <a:ext cx="0" cy="258136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53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BBFFE-D00A-4487-A3D8-046C563AE319}"/>
              </a:ext>
            </a:extLst>
          </p:cNvPr>
          <p:cNvSpPr txBox="1"/>
          <p:nvPr/>
        </p:nvSpPr>
        <p:spPr>
          <a:xfrm>
            <a:off x="6941025" y="1827450"/>
            <a:ext cx="4382503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session</a:t>
            </a:r>
          </a:p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Pretendard Medium" panose="02000603000000020004" pitchFamily="50" charset="-127"/>
                <a:cs typeface="Pretendard Medium" panose="02000603000000020004" pitchFamily="50" charset="-127"/>
              </a:rPr>
              <a:t>token(</a:t>
            </a:r>
            <a:r>
              <a:rPr lang="en-US" altLang="ko-KR" sz="2000" b="1" dirty="0" err="1">
                <a:solidFill>
                  <a:schemeClr val="tx1">
                    <a:lumMod val="95000"/>
                    <a:lumOff val="5000"/>
                  </a:schemeClr>
                </a:solidFill>
                <a:ea typeface="Pretendard Medium" panose="02000603000000020004" pitchFamily="50" charset="-127"/>
                <a:cs typeface="Pretendard Medium" panose="02000603000000020004" pitchFamily="50" charset="-127"/>
              </a:rPr>
              <a:t>jwt</a:t>
            </a:r>
            <a:r>
              <a:rPr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indent="-216000">
              <a:lnSpc>
                <a:spcPct val="150000"/>
              </a:lnSpc>
              <a:buAutoNum type="arabicPeriod"/>
            </a:pPr>
            <a:r>
              <a:rPr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 session vs token</a:t>
            </a:r>
          </a:p>
          <a:p>
            <a:pPr indent="-216000">
              <a:lnSpc>
                <a:spcPct val="150000"/>
              </a:lnSpc>
              <a:buAutoNum type="arabicPeriod"/>
            </a:pP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jwt</a:t>
            </a:r>
            <a:r>
              <a:rPr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보안 </a:t>
            </a:r>
            <a:endParaRPr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indent="-216000">
              <a:lnSpc>
                <a:spcPct val="150000"/>
              </a:lnSpc>
              <a:buFontTx/>
              <a:buAutoNum type="arabicPeriod"/>
            </a:pP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 session &amp; JWT(AT, RT) 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저장 위치</a:t>
            </a:r>
            <a:endParaRPr lang="en-US" altLang="ko-KR" sz="2000" b="1" spc="-150" dirty="0">
              <a:solidFill>
                <a:schemeClr val="tx1">
                  <a:lumMod val="95000"/>
                  <a:lumOff val="5000"/>
                </a:schemeClr>
              </a:solidFill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indent="-216000">
              <a:lnSpc>
                <a:spcPct val="150000"/>
              </a:lnSpc>
              <a:buFontTx/>
              <a:buAutoNum type="arabicPeriod"/>
            </a:pP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 JWT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는</a:t>
            </a: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언제 </a:t>
            </a:r>
            <a:r>
              <a:rPr lang="ko-KR" altLang="en-US" sz="2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써야할까</a:t>
            </a:r>
            <a:endParaRPr lang="en-US" altLang="ko-KR" sz="2000" b="1" spc="-150" dirty="0">
              <a:solidFill>
                <a:schemeClr val="tx1">
                  <a:lumMod val="95000"/>
                  <a:lumOff val="5000"/>
                </a:schemeClr>
              </a:solidFill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E2AC3-BF26-49AB-834B-CE8814B1ED51}"/>
              </a:ext>
            </a:extLst>
          </p:cNvPr>
          <p:cNvSpPr txBox="1"/>
          <p:nvPr/>
        </p:nvSpPr>
        <p:spPr>
          <a:xfrm>
            <a:off x="1524158" y="2844225"/>
            <a:ext cx="2960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CONTENTS</a:t>
            </a:r>
            <a:endParaRPr lang="ko-KR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AB198-9D50-4035-A3B6-2FABF8F734F4}"/>
              </a:ext>
            </a:extLst>
          </p:cNvPr>
          <p:cNvSpPr txBox="1"/>
          <p:nvPr/>
        </p:nvSpPr>
        <p:spPr>
          <a:xfrm>
            <a:off x="3053219" y="3247465"/>
            <a:ext cx="6106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solidFill>
                  <a:srgbClr val="0D0D0D"/>
                </a:solidFill>
                <a:effectLst/>
                <a:latin typeface="ui-sans-serif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1432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F6290-7577-4DEA-100B-DC737A62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92281-F092-798B-82DB-B60F7CEF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1.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session</a:t>
            </a:r>
            <a:endParaRPr lang="ko-KR" altLang="en-US" b="1" dirty="0">
              <a:latin typeface="+mj-lt"/>
            </a:endParaRPr>
          </a:p>
        </p:txBody>
      </p:sp>
      <p:pic>
        <p:nvPicPr>
          <p:cNvPr id="8" name="그래픽 7" descr="사용자 윤곽선">
            <a:extLst>
              <a:ext uri="{FF2B5EF4-FFF2-40B4-BE49-F238E27FC236}">
                <a16:creationId xmlns:a16="http://schemas.microsoft.com/office/drawing/2014/main" id="{D1E29323-1583-0B7F-35A3-10D06F399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1026" name="Picture 2" descr="SSAFY 실습코치 · GitHub">
            <a:extLst>
              <a:ext uri="{FF2B5EF4-FFF2-40B4-BE49-F238E27FC236}">
                <a16:creationId xmlns:a16="http://schemas.microsoft.com/office/drawing/2014/main" id="{CC573EAE-44E2-5E99-C2F4-9F09258C0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1F18E30-7DBD-C892-76F6-C2B1AA378D28}"/>
              </a:ext>
            </a:extLst>
          </p:cNvPr>
          <p:cNvCxnSpPr>
            <a:cxnSpLocks/>
          </p:cNvCxnSpPr>
          <p:nvPr/>
        </p:nvCxnSpPr>
        <p:spPr>
          <a:xfrm>
            <a:off x="4229100" y="3020786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87C35BA-B686-2DB9-CCC5-829F972B1E17}"/>
              </a:ext>
            </a:extLst>
          </p:cNvPr>
          <p:cNvCxnSpPr>
            <a:cxnSpLocks/>
          </p:cNvCxnSpPr>
          <p:nvPr/>
        </p:nvCxnSpPr>
        <p:spPr>
          <a:xfrm>
            <a:off x="4229100" y="3503428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31B6F8-E704-0C75-07BD-432ECD5A42BF}"/>
              </a:ext>
            </a:extLst>
          </p:cNvPr>
          <p:cNvSpPr txBox="1"/>
          <p:nvPr/>
        </p:nvSpPr>
        <p:spPr>
          <a:xfrm>
            <a:off x="6430284" y="2410134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1.</a:t>
            </a:r>
            <a:r>
              <a:rPr kumimoji="1" lang="ko-KR" altLang="en-US" dirty="0"/>
              <a:t> 첫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60F9FC-47F8-4546-1370-7217BC66EB8F}"/>
              </a:ext>
            </a:extLst>
          </p:cNvPr>
          <p:cNvSpPr txBox="1"/>
          <p:nvPr/>
        </p:nvSpPr>
        <p:spPr>
          <a:xfrm>
            <a:off x="4229100" y="3776713"/>
            <a:ext cx="205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2.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Session </a:t>
            </a:r>
            <a:r>
              <a:rPr kumimoji="1" lang="ko-KR" altLang="en-US" dirty="0"/>
              <a:t>입장권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E146245-F3C1-1D7D-992D-A7E154280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454" y="1905989"/>
            <a:ext cx="905076" cy="64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12DA02D-D77C-FD7E-913C-334284D33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20" y="4234976"/>
            <a:ext cx="4622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4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EDB4-B278-04CD-2744-0B1C8BFF6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사용자 윤곽선">
            <a:extLst>
              <a:ext uri="{FF2B5EF4-FFF2-40B4-BE49-F238E27FC236}">
                <a16:creationId xmlns:a16="http://schemas.microsoft.com/office/drawing/2014/main" id="{4CE93508-66F0-2F2C-8FA2-E3B25039B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1026" name="Picture 2" descr="SSAFY 실습코치 · GitHub">
            <a:extLst>
              <a:ext uri="{FF2B5EF4-FFF2-40B4-BE49-F238E27FC236}">
                <a16:creationId xmlns:a16="http://schemas.microsoft.com/office/drawing/2014/main" id="{BCE79999-317B-10C5-7A08-F1D8CCC19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2FB1646-503D-06D1-D1AF-C4C132172DD9}"/>
              </a:ext>
            </a:extLst>
          </p:cNvPr>
          <p:cNvCxnSpPr>
            <a:cxnSpLocks/>
          </p:cNvCxnSpPr>
          <p:nvPr/>
        </p:nvCxnSpPr>
        <p:spPr>
          <a:xfrm>
            <a:off x="4229100" y="3229374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C7E6A0-386B-FA62-8844-DE494C13EE70}"/>
              </a:ext>
            </a:extLst>
          </p:cNvPr>
          <p:cNvSpPr txBox="1"/>
          <p:nvPr/>
        </p:nvSpPr>
        <p:spPr>
          <a:xfrm>
            <a:off x="6430284" y="2618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1.</a:t>
            </a:r>
            <a:r>
              <a:rPr kumimoji="1" lang="ko-KR" altLang="en-US" dirty="0"/>
              <a:t> 아이디</a:t>
            </a:r>
            <a:r>
              <a:rPr kumimoji="1" lang="en-US" altLang="ko-KR" dirty="0"/>
              <a:t>/</a:t>
            </a:r>
            <a:r>
              <a:rPr kumimoji="1" lang="ko-KR" altLang="en-US" dirty="0"/>
              <a:t>비번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E806B48-BFD9-A625-6343-6AEB644D8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454" y="1905989"/>
            <a:ext cx="905076" cy="64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7BC3AF7-082C-72B1-079F-3CC703D06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535" y="1968692"/>
            <a:ext cx="4622800" cy="304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916DDEB-9565-F593-59B6-D9CC61588A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220" y="3961379"/>
            <a:ext cx="5257800" cy="5080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111F35BC-50A2-CA98-58B0-0C30D7D3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session</a:t>
            </a:r>
            <a:endParaRPr lang="ko-KR" alt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893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4891-00F7-BE01-BD98-6133A3C1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사용자 윤곽선">
            <a:extLst>
              <a:ext uri="{FF2B5EF4-FFF2-40B4-BE49-F238E27FC236}">
                <a16:creationId xmlns:a16="http://schemas.microsoft.com/office/drawing/2014/main" id="{CC9D2492-B5E5-F11B-AE78-73E78B72A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1026" name="Picture 2" descr="SSAFY 실습코치 · GitHub">
            <a:extLst>
              <a:ext uri="{FF2B5EF4-FFF2-40B4-BE49-F238E27FC236}">
                <a16:creationId xmlns:a16="http://schemas.microsoft.com/office/drawing/2014/main" id="{51FE2FE9-F8DC-944E-4896-3DC84EFF3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45FB125-1164-86E2-163D-4E9C72C22BF9}"/>
              </a:ext>
            </a:extLst>
          </p:cNvPr>
          <p:cNvCxnSpPr>
            <a:cxnSpLocks/>
          </p:cNvCxnSpPr>
          <p:nvPr/>
        </p:nvCxnSpPr>
        <p:spPr>
          <a:xfrm>
            <a:off x="4229100" y="3020786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0FC9227-612A-2EAE-7C21-DB0F2B221565}"/>
              </a:ext>
            </a:extLst>
          </p:cNvPr>
          <p:cNvCxnSpPr>
            <a:cxnSpLocks/>
          </p:cNvCxnSpPr>
          <p:nvPr/>
        </p:nvCxnSpPr>
        <p:spPr>
          <a:xfrm>
            <a:off x="4229100" y="3503428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F68EF82-9980-F153-E248-F7D35C6B4A6E}"/>
              </a:ext>
            </a:extLst>
          </p:cNvPr>
          <p:cNvSpPr txBox="1"/>
          <p:nvPr/>
        </p:nvSpPr>
        <p:spPr>
          <a:xfrm>
            <a:off x="6299469" y="229383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1. </a:t>
            </a:r>
            <a:r>
              <a:rPr kumimoji="1" lang="ko-KR" altLang="en-US" dirty="0"/>
              <a:t>강의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EFA85C-EFC2-1849-BBDE-A47350A6268F}"/>
              </a:ext>
            </a:extLst>
          </p:cNvPr>
          <p:cNvSpPr txBox="1"/>
          <p:nvPr/>
        </p:nvSpPr>
        <p:spPr>
          <a:xfrm>
            <a:off x="4229100" y="3776713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3.</a:t>
            </a:r>
            <a:r>
              <a:rPr kumimoji="1" lang="ko-KR" altLang="en-US" dirty="0"/>
              <a:t> 강의 제공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8AE1C-B5A6-706F-9E1A-3EEA86004583}"/>
              </a:ext>
            </a:extLst>
          </p:cNvPr>
          <p:cNvSpPr txBox="1"/>
          <p:nvPr/>
        </p:nvSpPr>
        <p:spPr>
          <a:xfrm>
            <a:off x="8765323" y="2064724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2. </a:t>
            </a:r>
            <a:r>
              <a:rPr kumimoji="1" lang="ko-KR" altLang="en-US" dirty="0"/>
              <a:t>검증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EE0040-9583-9D5A-43D3-32E6FDFB7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6345" y="2293837"/>
            <a:ext cx="4622800" cy="304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F4DEBB7-C467-697B-C562-A72216C8A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705" y="1582083"/>
            <a:ext cx="4889252" cy="369332"/>
          </a:xfrm>
          <a:prstGeom prst="rect">
            <a:avLst/>
          </a:prstGeom>
        </p:spPr>
      </p:pic>
      <p:sp>
        <p:nvSpPr>
          <p:cNvPr id="21" name="제목 1">
            <a:extLst>
              <a:ext uri="{FF2B5EF4-FFF2-40B4-BE49-F238E27FC236}">
                <a16:creationId xmlns:a16="http://schemas.microsoft.com/office/drawing/2014/main" id="{85CE71BC-D223-1174-83F5-DB820B808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session</a:t>
            </a:r>
            <a:endParaRPr lang="ko-KR" alt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314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0DFFF-8D4C-A104-224B-C9DBC552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DA9C6EAE-2985-81CB-259D-E4277EA9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2.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token(</a:t>
            </a:r>
            <a:r>
              <a:rPr lang="en-US" altLang="ko-KR" b="1" dirty="0" err="1">
                <a:latin typeface="+mj-lt"/>
              </a:rPr>
              <a:t>jwt</a:t>
            </a:r>
            <a:r>
              <a:rPr lang="en-US" altLang="ko-KR" b="1" dirty="0">
                <a:latin typeface="+mj-lt"/>
              </a:rPr>
              <a:t>)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4152F-5F9A-23D8-8FF4-435FC74ED542}"/>
              </a:ext>
            </a:extLst>
          </p:cNvPr>
          <p:cNvSpPr txBox="1"/>
          <p:nvPr/>
        </p:nvSpPr>
        <p:spPr>
          <a:xfrm>
            <a:off x="617935" y="1029772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https://www.jwt.io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0EF6D0-0FB9-9CEC-DF9E-C93B3ADD9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463" y="596944"/>
            <a:ext cx="9210785" cy="584451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AACDCF3-5890-C6C3-E517-B2CF467AAB2A}"/>
              </a:ext>
            </a:extLst>
          </p:cNvPr>
          <p:cNvSpPr/>
          <p:nvPr/>
        </p:nvSpPr>
        <p:spPr>
          <a:xfrm>
            <a:off x="2759444" y="1217976"/>
            <a:ext cx="4450248" cy="13259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36B7EE-32F5-755E-7BB3-F8011147698F}"/>
              </a:ext>
            </a:extLst>
          </p:cNvPr>
          <p:cNvSpPr/>
          <p:nvPr/>
        </p:nvSpPr>
        <p:spPr>
          <a:xfrm>
            <a:off x="7509274" y="1608667"/>
            <a:ext cx="2173987" cy="14458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7D5266-6994-A263-C0AF-61BE9A030B75}"/>
              </a:ext>
            </a:extLst>
          </p:cNvPr>
          <p:cNvSpPr/>
          <p:nvPr/>
        </p:nvSpPr>
        <p:spPr>
          <a:xfrm>
            <a:off x="9683262" y="1608667"/>
            <a:ext cx="2028528" cy="144584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rgbClr val="FFC000"/>
              </a:solidFill>
              <a:highlight>
                <a:srgbClr val="FFFF00"/>
              </a:highlight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D97273-75CA-CA13-5BE2-737A4D7DC3B5}"/>
              </a:ext>
            </a:extLst>
          </p:cNvPr>
          <p:cNvSpPr/>
          <p:nvPr/>
        </p:nvSpPr>
        <p:spPr>
          <a:xfrm>
            <a:off x="7500775" y="1736357"/>
            <a:ext cx="3336557" cy="144584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rgbClr val="FFC000"/>
              </a:solidFill>
              <a:highlight>
                <a:srgbClr val="FFFF00"/>
              </a:highligh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845F9F-9333-1319-6BFA-5EACD65B1852}"/>
              </a:ext>
            </a:extLst>
          </p:cNvPr>
          <p:cNvSpPr/>
          <p:nvPr/>
        </p:nvSpPr>
        <p:spPr>
          <a:xfrm>
            <a:off x="10837332" y="1753251"/>
            <a:ext cx="874457" cy="12769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B05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71ACC7-8E20-98DF-4041-E54A333A703B}"/>
              </a:ext>
            </a:extLst>
          </p:cNvPr>
          <p:cNvSpPr/>
          <p:nvPr/>
        </p:nvSpPr>
        <p:spPr>
          <a:xfrm>
            <a:off x="7500775" y="1888296"/>
            <a:ext cx="1737444" cy="144584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B05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6B011C4-64FD-B51A-1BEF-9965DAFBCABA}"/>
              </a:ext>
            </a:extLst>
          </p:cNvPr>
          <p:cNvSpPr/>
          <p:nvPr/>
        </p:nvSpPr>
        <p:spPr>
          <a:xfrm>
            <a:off x="2759443" y="2616977"/>
            <a:ext cx="4450248" cy="1593516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rgbClr val="FFC000"/>
              </a:solidFill>
              <a:highlight>
                <a:srgbClr val="FFFF00"/>
              </a:highlight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A350B4-26A2-082B-4FC1-ABFE4846D3B6}"/>
              </a:ext>
            </a:extLst>
          </p:cNvPr>
          <p:cNvSpPr/>
          <p:nvPr/>
        </p:nvSpPr>
        <p:spPr>
          <a:xfrm>
            <a:off x="2759443" y="4369981"/>
            <a:ext cx="4450248" cy="1458247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E93DC4-F363-62A7-FB64-395BA42CF899}"/>
              </a:ext>
            </a:extLst>
          </p:cNvPr>
          <p:cNvSpPr txBox="1"/>
          <p:nvPr/>
        </p:nvSpPr>
        <p:spPr>
          <a:xfrm>
            <a:off x="465174" y="2518729"/>
            <a:ext cx="21812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JWS – </a:t>
            </a:r>
            <a:r>
              <a:rPr lang="ko-KR" altLang="en-US" b="1" dirty="0">
                <a:latin typeface="+mj-lt"/>
              </a:rPr>
              <a:t>디지털 서명</a:t>
            </a:r>
            <a:endParaRPr lang="en-US" altLang="ko-KR" b="1" dirty="0">
              <a:latin typeface="+mj-lt"/>
            </a:endParaRPr>
          </a:p>
          <a:p>
            <a:endParaRPr lang="en-US" altLang="ko-KR" b="1" dirty="0">
              <a:latin typeface="+mj-lt"/>
            </a:endParaRPr>
          </a:p>
          <a:p>
            <a:r>
              <a:rPr lang="en-US" altLang="ko-KR" b="1" dirty="0">
                <a:latin typeface="+mj-lt"/>
              </a:rPr>
              <a:t>JWE - </a:t>
            </a:r>
            <a:r>
              <a:rPr lang="ko-KR" altLang="en-US" b="1" dirty="0">
                <a:latin typeface="+mj-lt"/>
              </a:rPr>
              <a:t>암호화</a:t>
            </a:r>
            <a:endParaRPr lang="en-US" altLang="ko-K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9210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A4BF-FE4D-62BE-FF09-4461F45C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사용자 윤곽선">
            <a:extLst>
              <a:ext uri="{FF2B5EF4-FFF2-40B4-BE49-F238E27FC236}">
                <a16:creationId xmlns:a16="http://schemas.microsoft.com/office/drawing/2014/main" id="{523BFF99-6E82-AA50-3D8C-49EDF1281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1026" name="Picture 2" descr="SSAFY 실습코치 · GitHub">
            <a:extLst>
              <a:ext uri="{FF2B5EF4-FFF2-40B4-BE49-F238E27FC236}">
                <a16:creationId xmlns:a16="http://schemas.microsoft.com/office/drawing/2014/main" id="{778EB465-8EAE-5924-0DA0-90C72CB51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9AC5CA8-AABC-F1D4-482C-7C8E7E9487A5}"/>
              </a:ext>
            </a:extLst>
          </p:cNvPr>
          <p:cNvCxnSpPr>
            <a:cxnSpLocks/>
          </p:cNvCxnSpPr>
          <p:nvPr/>
        </p:nvCxnSpPr>
        <p:spPr>
          <a:xfrm>
            <a:off x="4229100" y="3020786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07C7217-BEAE-4B57-17C3-354B5BAC75B5}"/>
              </a:ext>
            </a:extLst>
          </p:cNvPr>
          <p:cNvCxnSpPr>
            <a:cxnSpLocks/>
          </p:cNvCxnSpPr>
          <p:nvPr/>
        </p:nvCxnSpPr>
        <p:spPr>
          <a:xfrm>
            <a:off x="4229100" y="3503428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F465E21E-F7F4-D32C-38A9-7B163D21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2.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token(</a:t>
            </a:r>
            <a:r>
              <a:rPr lang="en-US" altLang="ko-KR" b="1" dirty="0" err="1">
                <a:latin typeface="+mj-lt"/>
              </a:rPr>
              <a:t>jwt</a:t>
            </a:r>
            <a:r>
              <a:rPr lang="en-US" altLang="ko-KR" b="1" dirty="0">
                <a:latin typeface="+mj-lt"/>
              </a:rPr>
              <a:t>)</a:t>
            </a:r>
            <a:endParaRPr lang="ko-KR" altLang="en-US" b="1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A694D-E235-E8F6-0A49-B8564427DE34}"/>
              </a:ext>
            </a:extLst>
          </p:cNvPr>
          <p:cNvSpPr txBox="1"/>
          <p:nvPr/>
        </p:nvSpPr>
        <p:spPr>
          <a:xfrm>
            <a:off x="6299469" y="229383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1. </a:t>
            </a:r>
            <a:r>
              <a:rPr kumimoji="1" lang="ko-KR" altLang="en-US" dirty="0"/>
              <a:t>강의 요청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603818-6EE5-9769-DB10-1D7757DE3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19" y="1833966"/>
            <a:ext cx="5541481" cy="648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391CC4-292E-813E-22EA-19549885281B}"/>
              </a:ext>
            </a:extLst>
          </p:cNvPr>
          <p:cNvSpPr txBox="1"/>
          <p:nvPr/>
        </p:nvSpPr>
        <p:spPr>
          <a:xfrm>
            <a:off x="8765323" y="2064724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2. </a:t>
            </a:r>
            <a:r>
              <a:rPr kumimoji="1" lang="ko-KR" altLang="en-US" dirty="0"/>
              <a:t>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E8032-D72B-7A00-2A20-7AA655838EC4}"/>
              </a:ext>
            </a:extLst>
          </p:cNvPr>
          <p:cNvSpPr txBox="1"/>
          <p:nvPr/>
        </p:nvSpPr>
        <p:spPr>
          <a:xfrm>
            <a:off x="4229100" y="3776713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/>
              <a:t>3.</a:t>
            </a:r>
            <a:r>
              <a:rPr kumimoji="1" lang="ko-KR" altLang="en-US" dirty="0"/>
              <a:t> 강의 제공</a:t>
            </a:r>
          </a:p>
        </p:txBody>
      </p:sp>
    </p:spTree>
    <p:extLst>
      <p:ext uri="{BB962C8B-B14F-4D97-AF65-F5344CB8AC3E}">
        <p14:creationId xmlns:p14="http://schemas.microsoft.com/office/powerpoint/2010/main" val="100918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7A7FE-15D9-D33F-9E55-3324D19A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사용자 윤곽선">
            <a:extLst>
              <a:ext uri="{FF2B5EF4-FFF2-40B4-BE49-F238E27FC236}">
                <a16:creationId xmlns:a16="http://schemas.microsoft.com/office/drawing/2014/main" id="{6E1983DA-18C1-4AB7-87DD-572B34240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1026" name="Picture 2" descr="SSAFY 실습코치 · GitHub">
            <a:extLst>
              <a:ext uri="{FF2B5EF4-FFF2-40B4-BE49-F238E27FC236}">
                <a16:creationId xmlns:a16="http://schemas.microsoft.com/office/drawing/2014/main" id="{B903F51C-39A8-81E9-E1FD-54D1AFC49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A1C7B5A-0CA0-0943-6A7E-C073B0736EE3}"/>
              </a:ext>
            </a:extLst>
          </p:cNvPr>
          <p:cNvCxnSpPr>
            <a:cxnSpLocks/>
          </p:cNvCxnSpPr>
          <p:nvPr/>
        </p:nvCxnSpPr>
        <p:spPr>
          <a:xfrm>
            <a:off x="4243387" y="3205452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827EC15-BA99-F96E-DCC5-179AA257D9C5}"/>
              </a:ext>
            </a:extLst>
          </p:cNvPr>
          <p:cNvSpPr txBox="1"/>
          <p:nvPr/>
        </p:nvSpPr>
        <p:spPr>
          <a:xfrm>
            <a:off x="5780136" y="21937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/>
              <a:t>입장권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CA5FA0C-AA86-F112-4959-EEADB9253A1F}"/>
              </a:ext>
            </a:extLst>
          </p:cNvPr>
          <p:cNvSpPr/>
          <p:nvPr/>
        </p:nvSpPr>
        <p:spPr>
          <a:xfrm>
            <a:off x="5214938" y="2814638"/>
            <a:ext cx="1985962" cy="83791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/>
              <a:t>sessionID</a:t>
            </a:r>
            <a:r>
              <a:rPr kumimoji="1" lang="en-US" altLang="ko-KR" dirty="0"/>
              <a:t> :</a:t>
            </a:r>
            <a:r>
              <a:rPr kumimoji="1" lang="ko-KR" altLang="en-US" dirty="0"/>
              <a:t> </a:t>
            </a:r>
            <a:r>
              <a:rPr kumimoji="1" lang="en-US" altLang="ko-KR" dirty="0"/>
              <a:t>123</a:t>
            </a:r>
            <a:endParaRPr kumimoji="1"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3C0E4D4-0A2F-57A5-1F19-D62A82FB5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094187"/>
              </p:ext>
            </p:extLst>
          </p:nvPr>
        </p:nvGraphicFramePr>
        <p:xfrm>
          <a:off x="7361237" y="4331228"/>
          <a:ext cx="277216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084">
                  <a:extLst>
                    <a:ext uri="{9D8B030D-6E8A-4147-A177-3AD203B41FA5}">
                      <a16:colId xmlns:a16="http://schemas.microsoft.com/office/drawing/2014/main" val="2455374112"/>
                    </a:ext>
                  </a:extLst>
                </a:gridCol>
                <a:gridCol w="1386084">
                  <a:extLst>
                    <a:ext uri="{9D8B030D-6E8A-4147-A177-3AD203B41FA5}">
                      <a16:colId xmlns:a16="http://schemas.microsoft.com/office/drawing/2014/main" val="3129497578"/>
                    </a:ext>
                  </a:extLst>
                </a:gridCol>
              </a:tblGrid>
              <a:tr h="1321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만료시간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dirty="0" err="1"/>
                        <a:t>sessionID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74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01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456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796762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AC3DC86B-8D7F-38FA-50FE-C716DC9E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3.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session vs token</a:t>
            </a:r>
            <a:endParaRPr lang="ko-KR" altLang="en-US" b="1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B5F7A-709F-1E25-18DA-117DBB78849D}"/>
              </a:ext>
            </a:extLst>
          </p:cNvPr>
          <p:cNvSpPr txBox="1"/>
          <p:nvPr/>
        </p:nvSpPr>
        <p:spPr>
          <a:xfrm>
            <a:off x="690685" y="1030923"/>
            <a:ext cx="567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 err="1"/>
              <a:t>sessionID</a:t>
            </a:r>
            <a:r>
              <a:rPr kumimoji="1" lang="en-US" altLang="ko-KR" dirty="0"/>
              <a:t> </a:t>
            </a:r>
            <a:r>
              <a:rPr kumimoji="1" lang="ko-KR" altLang="en-US" dirty="0"/>
              <a:t>탈취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sessionID</a:t>
            </a:r>
            <a:r>
              <a:rPr kumimoji="1" lang="en-US" altLang="ko-KR" dirty="0"/>
              <a:t> 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123</a:t>
            </a:r>
            <a:r>
              <a:rPr kumimoji="1" lang="ko-KR" altLang="en-US" dirty="0"/>
              <a:t>인 세션 초기화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3169EF-2225-901C-1BC7-35C99FCA250E}"/>
              </a:ext>
            </a:extLst>
          </p:cNvPr>
          <p:cNvSpPr txBox="1"/>
          <p:nvPr/>
        </p:nvSpPr>
        <p:spPr>
          <a:xfrm>
            <a:off x="6361383" y="1030923"/>
            <a:ext cx="499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rgbClr val="FF0000"/>
                </a:solidFill>
              </a:rPr>
              <a:t>서버에서 세션 상태를 </a:t>
            </a:r>
            <a:r>
              <a:rPr kumimoji="1" lang="ko-KR" altLang="en-US" dirty="0" err="1">
                <a:solidFill>
                  <a:srgbClr val="FF0000"/>
                </a:solidFill>
              </a:rPr>
              <a:t>관리해야하는</a:t>
            </a:r>
            <a:r>
              <a:rPr kumimoji="1" lang="ko-KR" altLang="en-US" dirty="0">
                <a:solidFill>
                  <a:srgbClr val="FF0000"/>
                </a:solidFill>
              </a:rPr>
              <a:t> 부담</a:t>
            </a:r>
          </a:p>
        </p:txBody>
      </p:sp>
    </p:spTree>
    <p:extLst>
      <p:ext uri="{BB962C8B-B14F-4D97-AF65-F5344CB8AC3E}">
        <p14:creationId xmlns:p14="http://schemas.microsoft.com/office/powerpoint/2010/main" val="1745703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18E7-03C8-8888-AC35-6838E987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사용자 윤곽선">
            <a:extLst>
              <a:ext uri="{FF2B5EF4-FFF2-40B4-BE49-F238E27FC236}">
                <a16:creationId xmlns:a16="http://schemas.microsoft.com/office/drawing/2014/main" id="{A1035420-E2BD-0B0D-E464-9D937C8F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1026" name="Picture 2" descr="SSAFY 실습코치 · GitHub">
            <a:extLst>
              <a:ext uri="{FF2B5EF4-FFF2-40B4-BE49-F238E27FC236}">
                <a16:creationId xmlns:a16="http://schemas.microsoft.com/office/drawing/2014/main" id="{39DC29E2-C664-053C-E54C-03286F74D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03ADD89-3E20-7CA8-08F7-322F593B4592}"/>
              </a:ext>
            </a:extLst>
          </p:cNvPr>
          <p:cNvCxnSpPr>
            <a:cxnSpLocks/>
          </p:cNvCxnSpPr>
          <p:nvPr/>
        </p:nvCxnSpPr>
        <p:spPr>
          <a:xfrm>
            <a:off x="4243387" y="3205452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A017CCC-4D54-47BF-FD5E-5E764267ED85}"/>
              </a:ext>
            </a:extLst>
          </p:cNvPr>
          <p:cNvSpPr txBox="1"/>
          <p:nvPr/>
        </p:nvSpPr>
        <p:spPr>
          <a:xfrm>
            <a:off x="5780135" y="17016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/>
              <a:t>입장권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8CA911A-81F1-6E3A-0A37-85C6633C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19" y="334209"/>
            <a:ext cx="4494148" cy="478578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3.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session vs token</a:t>
            </a:r>
            <a:endParaRPr lang="ko-KR" altLang="en-US" b="1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0A174E-4126-3F3C-F125-181E937B5E24}"/>
              </a:ext>
            </a:extLst>
          </p:cNvPr>
          <p:cNvSpPr txBox="1"/>
          <p:nvPr/>
        </p:nvSpPr>
        <p:spPr>
          <a:xfrm>
            <a:off x="690684" y="1030923"/>
            <a:ext cx="522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토큰에 회원정보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만료기간 정보가 이미 들어있어서 따로 세션 객체를 관리할 필요가 없다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0B0283-3876-58E1-6BA6-35409DF2B62D}"/>
              </a:ext>
            </a:extLst>
          </p:cNvPr>
          <p:cNvSpPr txBox="1"/>
          <p:nvPr/>
        </p:nvSpPr>
        <p:spPr>
          <a:xfrm>
            <a:off x="6361383" y="1030923"/>
            <a:ext cx="499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rgbClr val="FF0000"/>
                </a:solidFill>
              </a:rPr>
              <a:t>탈취 당하면 유효기간 까지 막을 수 없다</a:t>
            </a:r>
            <a:r>
              <a:rPr kumimoji="1" lang="en-US" altLang="ko-KR" dirty="0">
                <a:solidFill>
                  <a:srgbClr val="FF0000"/>
                </a:solidFill>
              </a:rPr>
              <a:t>.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470EEFDF-3C62-8647-7BE3-2CD1A06A66B1}"/>
              </a:ext>
            </a:extLst>
          </p:cNvPr>
          <p:cNvSpPr/>
          <p:nvPr/>
        </p:nvSpPr>
        <p:spPr>
          <a:xfrm>
            <a:off x="5054286" y="2260639"/>
            <a:ext cx="2328862" cy="17859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AT</a:t>
            </a:r>
          </a:p>
          <a:p>
            <a:pPr algn="ctr"/>
            <a:r>
              <a:rPr kumimoji="1" lang="ko-KR" altLang="en-US" dirty="0"/>
              <a:t>이메일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123</a:t>
            </a:r>
          </a:p>
          <a:p>
            <a:pPr algn="ctr"/>
            <a:r>
              <a:rPr kumimoji="1" lang="ko-KR" altLang="en-US" dirty="0"/>
              <a:t>발급일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yy.mm.dd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분</a:t>
            </a:r>
            <a:endParaRPr kumimoji="1" lang="en-US" altLang="ko-KR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D5F18C-AF4F-8120-B980-0E453F760A82}"/>
              </a:ext>
            </a:extLst>
          </p:cNvPr>
          <p:cNvSpPr/>
          <p:nvPr/>
        </p:nvSpPr>
        <p:spPr>
          <a:xfrm>
            <a:off x="5525773" y="3429000"/>
            <a:ext cx="1414462" cy="291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191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41347-EA2F-00A9-36EA-F9068EB4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4.</a:t>
            </a:r>
            <a:r>
              <a:rPr lang="ko-KR" altLang="en-US" b="1" dirty="0">
                <a:latin typeface="+mj-lt"/>
              </a:rPr>
              <a:t> </a:t>
            </a:r>
            <a:r>
              <a:rPr lang="en" altLang="ko-KR" b="1" dirty="0" err="1">
                <a:latin typeface="+mj-lt"/>
              </a:rPr>
              <a:t>jwt</a:t>
            </a:r>
            <a:r>
              <a:rPr lang="en" altLang="ko-KR" b="1" dirty="0">
                <a:latin typeface="+mj-lt"/>
              </a:rPr>
              <a:t> </a:t>
            </a:r>
            <a:r>
              <a:rPr lang="ko-KR" altLang="en-US" b="1" dirty="0">
                <a:latin typeface="+mj-lt"/>
              </a:rPr>
              <a:t>보안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40146-7D13-718A-18D7-C1933606870C}"/>
              </a:ext>
            </a:extLst>
          </p:cNvPr>
          <p:cNvSpPr txBox="1"/>
          <p:nvPr/>
        </p:nvSpPr>
        <p:spPr>
          <a:xfrm>
            <a:off x="530857" y="9672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+mj-ea"/>
                <a:ea typeface="+mj-ea"/>
              </a:rPr>
              <a:t>4.1. </a:t>
            </a:r>
            <a:r>
              <a:rPr kumimoji="1" lang="en-US" altLang="ko-KR" b="1" dirty="0" err="1">
                <a:latin typeface="+mj-ea"/>
                <a:ea typeface="+mj-ea"/>
              </a:rPr>
              <a:t>jwt</a:t>
            </a:r>
            <a:r>
              <a:rPr kumimoji="1" lang="ko-KR" altLang="en-US" b="1" dirty="0">
                <a:latin typeface="+mj-ea"/>
                <a:ea typeface="+mj-ea"/>
              </a:rPr>
              <a:t> </a:t>
            </a:r>
            <a:r>
              <a:rPr kumimoji="1" lang="en-US" altLang="ko-KR" b="1" dirty="0">
                <a:latin typeface="+mj-ea"/>
                <a:ea typeface="+mj-ea"/>
              </a:rPr>
              <a:t>	</a:t>
            </a:r>
            <a:r>
              <a:rPr kumimoji="1" lang="ko-KR" altLang="en-US" b="1" dirty="0">
                <a:latin typeface="+mj-ea"/>
                <a:ea typeface="+mj-ea"/>
              </a:rPr>
              <a:t>블랙리스트</a:t>
            </a:r>
          </a:p>
        </p:txBody>
      </p:sp>
      <p:pic>
        <p:nvPicPr>
          <p:cNvPr id="4" name="그래픽 3" descr="사용자 윤곽선">
            <a:extLst>
              <a:ext uri="{FF2B5EF4-FFF2-40B4-BE49-F238E27FC236}">
                <a16:creationId xmlns:a16="http://schemas.microsoft.com/office/drawing/2014/main" id="{08C1F33B-154C-2AB6-65F6-86A93C667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5" name="Picture 2" descr="SSAFY 실습코치 · GitHub">
            <a:extLst>
              <a:ext uri="{FF2B5EF4-FFF2-40B4-BE49-F238E27FC236}">
                <a16:creationId xmlns:a16="http://schemas.microsoft.com/office/drawing/2014/main" id="{19DF2E7F-26C5-F858-5B29-9DBE8758C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ACBD988-613D-6243-00C6-E95F4C8E0D10}"/>
              </a:ext>
            </a:extLst>
          </p:cNvPr>
          <p:cNvCxnSpPr>
            <a:cxnSpLocks/>
          </p:cNvCxnSpPr>
          <p:nvPr/>
        </p:nvCxnSpPr>
        <p:spPr>
          <a:xfrm>
            <a:off x="4243387" y="3205452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ABE0B9-B38A-C0FB-C519-A620F1C5BB9C}"/>
              </a:ext>
            </a:extLst>
          </p:cNvPr>
          <p:cNvSpPr txBox="1"/>
          <p:nvPr/>
        </p:nvSpPr>
        <p:spPr>
          <a:xfrm>
            <a:off x="5780135" y="17016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/>
              <a:t>입장권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CAE6383-FF2A-1420-9D78-B40C489D2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75847"/>
              </p:ext>
            </p:extLst>
          </p:nvPr>
        </p:nvGraphicFramePr>
        <p:xfrm>
          <a:off x="8126781" y="4338441"/>
          <a:ext cx="1693184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184">
                  <a:extLst>
                    <a:ext uri="{9D8B030D-6E8A-4147-A177-3AD203B41FA5}">
                      <a16:colId xmlns:a16="http://schemas.microsoft.com/office/drawing/2014/main" val="3129497578"/>
                    </a:ext>
                  </a:extLst>
                </a:gridCol>
              </a:tblGrid>
              <a:tr h="135739"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dirty="0" err="1"/>
                        <a:t>Jwt</a:t>
                      </a:r>
                      <a:r>
                        <a:rPr kumimoji="1" lang="en-US" altLang="ko-KR" dirty="0"/>
                        <a:t> blacklist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74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01973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B8FF3B3-7E22-BA02-EDB6-9E6B2484D413}"/>
              </a:ext>
            </a:extLst>
          </p:cNvPr>
          <p:cNvSpPr txBox="1"/>
          <p:nvPr/>
        </p:nvSpPr>
        <p:spPr>
          <a:xfrm>
            <a:off x="530857" y="1563107"/>
            <a:ext cx="522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결국 </a:t>
            </a:r>
            <a:r>
              <a:rPr kumimoji="1" lang="en-US" altLang="ko-KR" dirty="0"/>
              <a:t>session </a:t>
            </a:r>
            <a:r>
              <a:rPr kumimoji="1" lang="ko-KR" altLang="en-US" dirty="0"/>
              <a:t>방식과 동일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ABAA8CC3-3E22-F758-6912-EEADDE6DB821}"/>
              </a:ext>
            </a:extLst>
          </p:cNvPr>
          <p:cNvSpPr/>
          <p:nvPr/>
        </p:nvSpPr>
        <p:spPr>
          <a:xfrm>
            <a:off x="5054286" y="2260639"/>
            <a:ext cx="2328862" cy="17859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AT</a:t>
            </a:r>
          </a:p>
          <a:p>
            <a:pPr algn="ctr"/>
            <a:r>
              <a:rPr kumimoji="1" lang="ko-KR" altLang="en-US" dirty="0"/>
              <a:t>이메일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123</a:t>
            </a:r>
          </a:p>
          <a:p>
            <a:pPr algn="ctr"/>
            <a:r>
              <a:rPr kumimoji="1" lang="ko-KR" altLang="en-US" dirty="0"/>
              <a:t>발급일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yy.mm.dd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분</a:t>
            </a:r>
            <a:endParaRPr kumimoji="1" lang="en-US" altLang="ko-KR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09408A0-8DF9-904A-044C-56DB1791816F}"/>
              </a:ext>
            </a:extLst>
          </p:cNvPr>
          <p:cNvSpPr/>
          <p:nvPr/>
        </p:nvSpPr>
        <p:spPr>
          <a:xfrm>
            <a:off x="5525773" y="3429000"/>
            <a:ext cx="1414462" cy="291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377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A2E53-9A94-30B1-DCBB-F0130903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F2632-6948-3956-47EE-579E2C23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4.</a:t>
            </a:r>
            <a:r>
              <a:rPr lang="ko-KR" altLang="en-US" b="1" dirty="0">
                <a:latin typeface="+mj-lt"/>
              </a:rPr>
              <a:t> </a:t>
            </a:r>
            <a:r>
              <a:rPr lang="en" altLang="ko-KR" b="1" dirty="0" err="1">
                <a:latin typeface="+mj-lt"/>
              </a:rPr>
              <a:t>jwt</a:t>
            </a:r>
            <a:r>
              <a:rPr lang="en" altLang="ko-KR" b="1" dirty="0">
                <a:latin typeface="+mj-lt"/>
              </a:rPr>
              <a:t> </a:t>
            </a:r>
            <a:r>
              <a:rPr lang="ko-KR" altLang="en-US" b="1" dirty="0">
                <a:latin typeface="+mj-lt"/>
              </a:rPr>
              <a:t>보안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64992-5DF5-6400-661B-49F013B51E37}"/>
              </a:ext>
            </a:extLst>
          </p:cNvPr>
          <p:cNvSpPr txBox="1"/>
          <p:nvPr/>
        </p:nvSpPr>
        <p:spPr>
          <a:xfrm>
            <a:off x="530857" y="967203"/>
            <a:ext cx="25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+mj-ea"/>
                <a:ea typeface="+mj-ea"/>
              </a:rPr>
              <a:t>4.2. </a:t>
            </a:r>
            <a:r>
              <a:rPr kumimoji="1" lang="en-US" altLang="ko-KR" b="1" dirty="0" err="1">
                <a:latin typeface="+mj-ea"/>
                <a:ea typeface="+mj-ea"/>
              </a:rPr>
              <a:t>jwt</a:t>
            </a:r>
            <a:r>
              <a:rPr kumimoji="1" lang="en-US" altLang="ko-KR" b="1" dirty="0">
                <a:latin typeface="+mj-ea"/>
                <a:ea typeface="+mj-ea"/>
              </a:rPr>
              <a:t> </a:t>
            </a:r>
            <a:r>
              <a:rPr kumimoji="1" lang="ko-KR" altLang="en-US" b="1" dirty="0">
                <a:latin typeface="+mj-ea"/>
                <a:ea typeface="+mj-ea"/>
              </a:rPr>
              <a:t>유효기간 짧게</a:t>
            </a:r>
          </a:p>
        </p:txBody>
      </p:sp>
      <p:pic>
        <p:nvPicPr>
          <p:cNvPr id="4" name="그래픽 3" descr="사용자 윤곽선">
            <a:extLst>
              <a:ext uri="{FF2B5EF4-FFF2-40B4-BE49-F238E27FC236}">
                <a16:creationId xmlns:a16="http://schemas.microsoft.com/office/drawing/2014/main" id="{E4BB1E24-7532-C60E-E2AF-BB770CF38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5" name="Picture 2" descr="SSAFY 실습코치 · GitHub">
            <a:extLst>
              <a:ext uri="{FF2B5EF4-FFF2-40B4-BE49-F238E27FC236}">
                <a16:creationId xmlns:a16="http://schemas.microsoft.com/office/drawing/2014/main" id="{8F6C7B43-DE82-9E1D-F501-31064F01F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E2E8EF0-4081-AF9C-BD92-E3D9A74C08C3}"/>
              </a:ext>
            </a:extLst>
          </p:cNvPr>
          <p:cNvCxnSpPr>
            <a:cxnSpLocks/>
          </p:cNvCxnSpPr>
          <p:nvPr/>
        </p:nvCxnSpPr>
        <p:spPr>
          <a:xfrm>
            <a:off x="4243387" y="3205452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212642-1588-4D6E-BC88-8908BE14572D}"/>
              </a:ext>
            </a:extLst>
          </p:cNvPr>
          <p:cNvSpPr txBox="1"/>
          <p:nvPr/>
        </p:nvSpPr>
        <p:spPr>
          <a:xfrm>
            <a:off x="5780135" y="17016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/>
              <a:t>입장권</a:t>
            </a:r>
          </a:p>
        </p:txBody>
      </p:sp>
      <p:pic>
        <p:nvPicPr>
          <p:cNvPr id="6" name="그래픽 5" descr="악마 같은 얼굴(윤곽선) 단색으로 채워진">
            <a:extLst>
              <a:ext uri="{FF2B5EF4-FFF2-40B4-BE49-F238E27FC236}">
                <a16:creationId xmlns:a16="http://schemas.microsoft.com/office/drawing/2014/main" id="{9ABEE321-542A-163A-9498-E4554032EB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0440" y="5140918"/>
            <a:ext cx="914400" cy="914400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4AD196E-024D-9AE0-BB2C-8F5D551BBC00}"/>
              </a:ext>
            </a:extLst>
          </p:cNvPr>
          <p:cNvCxnSpPr>
            <a:cxnSpLocks/>
          </p:cNvCxnSpPr>
          <p:nvPr/>
        </p:nvCxnSpPr>
        <p:spPr>
          <a:xfrm>
            <a:off x="4243387" y="5411784"/>
            <a:ext cx="18526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1AD2318-5144-5B82-5F5C-6A3026289939}"/>
              </a:ext>
            </a:extLst>
          </p:cNvPr>
          <p:cNvCxnSpPr>
            <a:cxnSpLocks/>
          </p:cNvCxnSpPr>
          <p:nvPr/>
        </p:nvCxnSpPr>
        <p:spPr>
          <a:xfrm flipV="1">
            <a:off x="7383148" y="4157330"/>
            <a:ext cx="963410" cy="125445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D6DB124-FA77-0AF1-9545-00FF02147DED}"/>
              </a:ext>
            </a:extLst>
          </p:cNvPr>
          <p:cNvSpPr txBox="1"/>
          <p:nvPr/>
        </p:nvSpPr>
        <p:spPr>
          <a:xfrm>
            <a:off x="530857" y="1563107"/>
            <a:ext cx="522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dirty="0"/>
              <a:t>3</a:t>
            </a:r>
            <a:r>
              <a:rPr kumimoji="1" lang="ko-KR" altLang="en-US" dirty="0"/>
              <a:t>분 동안만 탈취한 토큰으로 활동 가능</a:t>
            </a:r>
            <a:endParaRPr kumimoji="1" lang="en-US" altLang="ko-K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289E0A-39E8-ECAB-9A96-7A0FCE2F36F0}"/>
              </a:ext>
            </a:extLst>
          </p:cNvPr>
          <p:cNvSpPr txBox="1"/>
          <p:nvPr/>
        </p:nvSpPr>
        <p:spPr>
          <a:xfrm>
            <a:off x="6361383" y="1030923"/>
            <a:ext cx="499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solidFill>
                  <a:srgbClr val="FF0000"/>
                </a:solidFill>
              </a:rPr>
              <a:t>3</a:t>
            </a:r>
            <a:r>
              <a:rPr kumimoji="1" lang="ko-KR" altLang="en-US" dirty="0">
                <a:solidFill>
                  <a:srgbClr val="FF0000"/>
                </a:solidFill>
              </a:rPr>
              <a:t>분마다 로그인 직접 해야함</a:t>
            </a:r>
            <a:r>
              <a:rPr kumimoji="1" lang="en-US" altLang="ko-KR" dirty="0">
                <a:solidFill>
                  <a:srgbClr val="FF0000"/>
                </a:solidFill>
              </a:rPr>
              <a:t>.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5A8EACBC-666D-BAD9-741A-2604ADB7D359}"/>
              </a:ext>
            </a:extLst>
          </p:cNvPr>
          <p:cNvSpPr/>
          <p:nvPr/>
        </p:nvSpPr>
        <p:spPr>
          <a:xfrm>
            <a:off x="5054286" y="2260639"/>
            <a:ext cx="2328862" cy="17859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AT</a:t>
            </a:r>
          </a:p>
          <a:p>
            <a:pPr algn="ctr"/>
            <a:r>
              <a:rPr kumimoji="1" lang="ko-KR" altLang="en-US" dirty="0"/>
              <a:t>이메일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123</a:t>
            </a:r>
          </a:p>
          <a:p>
            <a:pPr algn="ctr"/>
            <a:r>
              <a:rPr kumimoji="1" lang="ko-KR" altLang="en-US" dirty="0"/>
              <a:t>발급일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yy.mm.dd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분</a:t>
            </a:r>
            <a:endParaRPr kumimoji="1" lang="en-US" altLang="ko-KR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28A692-1815-8DBF-4CD3-FBEE6335361E}"/>
              </a:ext>
            </a:extLst>
          </p:cNvPr>
          <p:cNvSpPr/>
          <p:nvPr/>
        </p:nvSpPr>
        <p:spPr>
          <a:xfrm>
            <a:off x="5525773" y="3429000"/>
            <a:ext cx="1414462" cy="291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79E99DFE-8955-8273-F485-053347036685}"/>
              </a:ext>
            </a:extLst>
          </p:cNvPr>
          <p:cNvSpPr/>
          <p:nvPr/>
        </p:nvSpPr>
        <p:spPr>
          <a:xfrm>
            <a:off x="5054286" y="4426619"/>
            <a:ext cx="2328862" cy="17859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AT</a:t>
            </a:r>
          </a:p>
          <a:p>
            <a:pPr algn="ctr"/>
            <a:r>
              <a:rPr kumimoji="1" lang="ko-KR" altLang="en-US" dirty="0"/>
              <a:t>이메일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123</a:t>
            </a:r>
          </a:p>
          <a:p>
            <a:pPr algn="ctr"/>
            <a:r>
              <a:rPr kumimoji="1" lang="ko-KR" altLang="en-US" dirty="0"/>
              <a:t>발급일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yy.mm.dd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분</a:t>
            </a:r>
            <a:endParaRPr kumimoji="1" lang="en-US" altLang="ko-KR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C153B05-C2D2-103A-01F3-96F6A752A39C}"/>
              </a:ext>
            </a:extLst>
          </p:cNvPr>
          <p:cNvSpPr/>
          <p:nvPr/>
        </p:nvSpPr>
        <p:spPr>
          <a:xfrm>
            <a:off x="5525773" y="5594980"/>
            <a:ext cx="1414462" cy="291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6448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90003-4FBD-6B37-5557-E79ADB2A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927F4-B431-FE84-EAD6-7A46F9AAC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4.</a:t>
            </a:r>
            <a:r>
              <a:rPr lang="ko-KR" altLang="en-US" b="1" dirty="0">
                <a:latin typeface="+mj-lt"/>
              </a:rPr>
              <a:t> </a:t>
            </a:r>
            <a:r>
              <a:rPr lang="en" altLang="ko-KR" b="1" dirty="0" err="1">
                <a:latin typeface="+mj-lt"/>
              </a:rPr>
              <a:t>jwt</a:t>
            </a:r>
            <a:r>
              <a:rPr lang="en" altLang="ko-KR" b="1" dirty="0">
                <a:latin typeface="+mj-lt"/>
              </a:rPr>
              <a:t> </a:t>
            </a:r>
            <a:r>
              <a:rPr lang="ko-KR" altLang="en-US" b="1" dirty="0">
                <a:latin typeface="+mj-lt"/>
              </a:rPr>
              <a:t>보안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36F33-8854-C709-F02F-7588218BBE19}"/>
              </a:ext>
            </a:extLst>
          </p:cNvPr>
          <p:cNvSpPr txBox="1"/>
          <p:nvPr/>
        </p:nvSpPr>
        <p:spPr>
          <a:xfrm>
            <a:off x="530857" y="967203"/>
            <a:ext cx="25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+mj-ea"/>
                <a:ea typeface="+mj-ea"/>
              </a:rPr>
              <a:t>4.2. </a:t>
            </a:r>
            <a:r>
              <a:rPr kumimoji="1" lang="en-US" altLang="ko-KR" b="1" dirty="0" err="1">
                <a:latin typeface="+mj-ea"/>
                <a:ea typeface="+mj-ea"/>
              </a:rPr>
              <a:t>jwt</a:t>
            </a:r>
            <a:r>
              <a:rPr kumimoji="1" lang="en-US" altLang="ko-KR" b="1" dirty="0">
                <a:latin typeface="+mj-ea"/>
                <a:ea typeface="+mj-ea"/>
              </a:rPr>
              <a:t> </a:t>
            </a:r>
            <a:r>
              <a:rPr kumimoji="1" lang="ko-KR" altLang="en-US" b="1" dirty="0">
                <a:latin typeface="+mj-ea"/>
                <a:ea typeface="+mj-ea"/>
              </a:rPr>
              <a:t>유효기간 짧게</a:t>
            </a:r>
          </a:p>
        </p:txBody>
      </p:sp>
      <p:pic>
        <p:nvPicPr>
          <p:cNvPr id="4" name="그래픽 3" descr="사용자 윤곽선">
            <a:extLst>
              <a:ext uri="{FF2B5EF4-FFF2-40B4-BE49-F238E27FC236}">
                <a16:creationId xmlns:a16="http://schemas.microsoft.com/office/drawing/2014/main" id="{97B1E436-1944-0409-2CA3-DC5E44ABF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5" name="Picture 2" descr="SSAFY 실습코치 · GitHub">
            <a:extLst>
              <a:ext uri="{FF2B5EF4-FFF2-40B4-BE49-F238E27FC236}">
                <a16:creationId xmlns:a16="http://schemas.microsoft.com/office/drawing/2014/main" id="{18F76E37-B429-C4FD-C978-3E9490DD3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F346C62-C4C7-1E70-3950-9040351A2A60}"/>
              </a:ext>
            </a:extLst>
          </p:cNvPr>
          <p:cNvCxnSpPr>
            <a:cxnSpLocks/>
          </p:cNvCxnSpPr>
          <p:nvPr/>
        </p:nvCxnSpPr>
        <p:spPr>
          <a:xfrm>
            <a:off x="4243387" y="3205452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9E5E5A-4EB1-7C34-068C-D94D632913CC}"/>
              </a:ext>
            </a:extLst>
          </p:cNvPr>
          <p:cNvSpPr txBox="1"/>
          <p:nvPr/>
        </p:nvSpPr>
        <p:spPr>
          <a:xfrm>
            <a:off x="5780135" y="17016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/>
              <a:t>입장권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B1E716DB-D171-2779-7CD4-1E867CE34DFE}"/>
              </a:ext>
            </a:extLst>
          </p:cNvPr>
          <p:cNvSpPr/>
          <p:nvPr/>
        </p:nvSpPr>
        <p:spPr>
          <a:xfrm>
            <a:off x="5068573" y="4098419"/>
            <a:ext cx="2328862" cy="89296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Refresh token</a:t>
            </a:r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일</a:t>
            </a:r>
            <a:endParaRPr kumimoji="1"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90EE9-CAAE-94DE-46BC-BA81AEBE988C}"/>
              </a:ext>
            </a:extLst>
          </p:cNvPr>
          <p:cNvSpPr txBox="1"/>
          <p:nvPr/>
        </p:nvSpPr>
        <p:spPr>
          <a:xfrm>
            <a:off x="530858" y="1563107"/>
            <a:ext cx="4859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dirty="0"/>
              <a:t>Refresh token</a:t>
            </a:r>
            <a:r>
              <a:rPr kumimoji="1" lang="ko-KR" altLang="en-US" dirty="0"/>
              <a:t> 기간동안 토큰 자동 재발급</a:t>
            </a:r>
            <a:endParaRPr kumimoji="1" lang="en-US" altLang="ko-K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주황색 토큰만 탈취당해도 해커는 재발급 불가능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1B48B-830A-C81C-ED4E-164B8FC3B98E}"/>
              </a:ext>
            </a:extLst>
          </p:cNvPr>
          <p:cNvSpPr txBox="1"/>
          <p:nvPr/>
        </p:nvSpPr>
        <p:spPr>
          <a:xfrm>
            <a:off x="6361382" y="1030923"/>
            <a:ext cx="5299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dirty="0" err="1">
                <a:solidFill>
                  <a:srgbClr val="FF0000"/>
                </a:solidFill>
              </a:rPr>
              <a:t>Resfresh</a:t>
            </a:r>
            <a:r>
              <a:rPr kumimoji="1" lang="en-US" altLang="ko-KR" dirty="0">
                <a:solidFill>
                  <a:srgbClr val="FF0000"/>
                </a:solidFill>
              </a:rPr>
              <a:t> token</a:t>
            </a:r>
            <a:r>
              <a:rPr kumimoji="1" lang="ko-KR" altLang="en-US" dirty="0">
                <a:solidFill>
                  <a:srgbClr val="FF0000"/>
                </a:solidFill>
              </a:rPr>
              <a:t>까지 탈취당하면 해커도 재발급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34B1CF1-E356-73A6-04B2-3D822FB331AF}"/>
              </a:ext>
            </a:extLst>
          </p:cNvPr>
          <p:cNvSpPr/>
          <p:nvPr/>
        </p:nvSpPr>
        <p:spPr>
          <a:xfrm>
            <a:off x="5054286" y="2260639"/>
            <a:ext cx="2328862" cy="17859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AT</a:t>
            </a:r>
          </a:p>
          <a:p>
            <a:pPr algn="ctr"/>
            <a:r>
              <a:rPr kumimoji="1" lang="ko-KR" altLang="en-US" dirty="0"/>
              <a:t>이메일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123</a:t>
            </a:r>
          </a:p>
          <a:p>
            <a:pPr algn="ctr"/>
            <a:r>
              <a:rPr kumimoji="1" lang="ko-KR" altLang="en-US" dirty="0"/>
              <a:t>발급일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yy.mm.dd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분</a:t>
            </a:r>
            <a:endParaRPr kumimoji="1" lang="en-US" altLang="ko-KR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6CC90E-DB4C-39B8-F0A4-F3D56C269373}"/>
              </a:ext>
            </a:extLst>
          </p:cNvPr>
          <p:cNvSpPr/>
          <p:nvPr/>
        </p:nvSpPr>
        <p:spPr>
          <a:xfrm>
            <a:off x="5525773" y="3429000"/>
            <a:ext cx="1414462" cy="291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5760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2EDF4-410E-7410-BE38-1A61BA0A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1DF46-F7D0-753A-E4AA-4D9A7EA9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4.</a:t>
            </a:r>
            <a:r>
              <a:rPr lang="ko-KR" altLang="en-US" b="1" dirty="0">
                <a:latin typeface="+mj-lt"/>
              </a:rPr>
              <a:t> </a:t>
            </a:r>
            <a:r>
              <a:rPr lang="en" altLang="ko-KR" b="1" dirty="0" err="1">
                <a:latin typeface="+mj-lt"/>
              </a:rPr>
              <a:t>jwt</a:t>
            </a:r>
            <a:r>
              <a:rPr lang="en" altLang="ko-KR" b="1" dirty="0">
                <a:latin typeface="+mj-lt"/>
              </a:rPr>
              <a:t> </a:t>
            </a:r>
            <a:r>
              <a:rPr lang="ko-KR" altLang="en-US" b="1" dirty="0">
                <a:latin typeface="+mj-lt"/>
              </a:rPr>
              <a:t>보안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7ADA6-5847-0767-C779-F7234E96B596}"/>
              </a:ext>
            </a:extLst>
          </p:cNvPr>
          <p:cNvSpPr txBox="1"/>
          <p:nvPr/>
        </p:nvSpPr>
        <p:spPr>
          <a:xfrm>
            <a:off x="530857" y="967203"/>
            <a:ext cx="308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+mj-ea"/>
                <a:ea typeface="+mj-ea"/>
              </a:rPr>
              <a:t>4.3. refresh token rotation</a:t>
            </a:r>
            <a:endParaRPr kumimoji="1" lang="ko-KR" altLang="en-US" b="1" dirty="0">
              <a:latin typeface="+mj-ea"/>
              <a:ea typeface="+mj-ea"/>
            </a:endParaRPr>
          </a:p>
        </p:txBody>
      </p:sp>
      <p:pic>
        <p:nvPicPr>
          <p:cNvPr id="4" name="그래픽 3" descr="사용자 윤곽선">
            <a:extLst>
              <a:ext uri="{FF2B5EF4-FFF2-40B4-BE49-F238E27FC236}">
                <a16:creationId xmlns:a16="http://schemas.microsoft.com/office/drawing/2014/main" id="{53EFFAC4-3765-F0B2-A5C4-3E056FC2A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2549069"/>
            <a:ext cx="1203266" cy="1203266"/>
          </a:xfrm>
          <a:prstGeom prst="rect">
            <a:avLst/>
          </a:prstGeom>
        </p:spPr>
      </p:pic>
      <p:pic>
        <p:nvPicPr>
          <p:cNvPr id="5" name="Picture 2" descr="SSAFY 실습코치 · GitHub">
            <a:extLst>
              <a:ext uri="{FF2B5EF4-FFF2-40B4-BE49-F238E27FC236}">
                <a16:creationId xmlns:a16="http://schemas.microsoft.com/office/drawing/2014/main" id="{363CAF3F-CB5A-4A55-A5F3-5F1C94C3B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99" y="2618722"/>
            <a:ext cx="1203266" cy="12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478A792-BC08-EB19-25AF-D5BC93C294F5}"/>
              </a:ext>
            </a:extLst>
          </p:cNvPr>
          <p:cNvCxnSpPr>
            <a:cxnSpLocks/>
          </p:cNvCxnSpPr>
          <p:nvPr/>
        </p:nvCxnSpPr>
        <p:spPr>
          <a:xfrm>
            <a:off x="4243387" y="3205452"/>
            <a:ext cx="39792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730B15-1B06-8083-476B-10DE4A3AC4E7}"/>
              </a:ext>
            </a:extLst>
          </p:cNvPr>
          <p:cNvSpPr txBox="1"/>
          <p:nvPr/>
        </p:nvSpPr>
        <p:spPr>
          <a:xfrm>
            <a:off x="5780135" y="17016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/>
              <a:t>입장권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A428F64-0FB1-A86C-4A17-06C17E35ADA2}"/>
              </a:ext>
            </a:extLst>
          </p:cNvPr>
          <p:cNvSpPr/>
          <p:nvPr/>
        </p:nvSpPr>
        <p:spPr>
          <a:xfrm>
            <a:off x="5068573" y="4098419"/>
            <a:ext cx="2328862" cy="89296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Refresh token</a:t>
            </a:r>
          </a:p>
          <a:p>
            <a:pPr algn="ctr"/>
            <a:r>
              <a:rPr kumimoji="1" lang="en-US" altLang="ko-KR" dirty="0" err="1"/>
              <a:t>Rt_id</a:t>
            </a:r>
            <a:r>
              <a:rPr kumimoji="1" lang="en-US" altLang="ko-KR" dirty="0"/>
              <a:t>: 3</a:t>
            </a:r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일</a:t>
            </a:r>
            <a:endParaRPr kumimoji="1"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3F7D8-2786-79D4-1ECA-16C5E991D94A}"/>
              </a:ext>
            </a:extLst>
          </p:cNvPr>
          <p:cNvSpPr txBox="1"/>
          <p:nvPr/>
        </p:nvSpPr>
        <p:spPr>
          <a:xfrm>
            <a:off x="7383148" y="2044093"/>
            <a:ext cx="4245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b="1" dirty="0">
                <a:latin typeface="+mj-ea"/>
                <a:ea typeface="+mj-ea"/>
              </a:rPr>
              <a:t>refresh token</a:t>
            </a:r>
            <a:r>
              <a:rPr kumimoji="1" lang="ko-KR" altLang="en-US" b="1" dirty="0">
                <a:latin typeface="+mj-ea"/>
                <a:ea typeface="+mj-ea"/>
              </a:rPr>
              <a:t> </a:t>
            </a:r>
            <a:r>
              <a:rPr kumimoji="1" lang="en-US" altLang="ko-KR" b="1" dirty="0">
                <a:latin typeface="+mj-ea"/>
                <a:ea typeface="+mj-ea"/>
              </a:rPr>
              <a:t>1</a:t>
            </a:r>
            <a:r>
              <a:rPr kumimoji="1" lang="ko-KR" altLang="en-US" b="1" dirty="0">
                <a:latin typeface="+mj-ea"/>
                <a:ea typeface="+mj-ea"/>
              </a:rPr>
              <a:t>회용 </a:t>
            </a:r>
            <a:r>
              <a:rPr kumimoji="1" lang="en-US" altLang="ko-KR" b="1" dirty="0">
                <a:latin typeface="+mj-ea"/>
                <a:ea typeface="+mj-ea"/>
              </a:rPr>
              <a:t>–</a:t>
            </a:r>
            <a:r>
              <a:rPr kumimoji="1" lang="ko-KR" altLang="en-US" b="1" dirty="0">
                <a:latin typeface="+mj-ea"/>
                <a:ea typeface="+mj-ea"/>
              </a:rPr>
              <a:t> 항상 새로 발급</a:t>
            </a:r>
            <a:r>
              <a:rPr kumimoji="1" lang="en-US" altLang="ko-KR" b="1" dirty="0">
                <a:latin typeface="+mj-ea"/>
                <a:ea typeface="+mj-ea"/>
              </a:rPr>
              <a:t> 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20DA6BB-A89B-9E10-8A58-B6BA5F344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645901"/>
              </p:ext>
            </p:extLst>
          </p:nvPr>
        </p:nvGraphicFramePr>
        <p:xfrm>
          <a:off x="7510738" y="4119838"/>
          <a:ext cx="411745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324">
                  <a:extLst>
                    <a:ext uri="{9D8B030D-6E8A-4147-A177-3AD203B41FA5}">
                      <a16:colId xmlns:a16="http://schemas.microsoft.com/office/drawing/2014/main" val="2407195773"/>
                    </a:ext>
                  </a:extLst>
                </a:gridCol>
                <a:gridCol w="1120406">
                  <a:extLst>
                    <a:ext uri="{9D8B030D-6E8A-4147-A177-3AD203B41FA5}">
                      <a16:colId xmlns:a16="http://schemas.microsoft.com/office/drawing/2014/main" val="2455374112"/>
                    </a:ext>
                  </a:extLst>
                </a:gridCol>
                <a:gridCol w="872738">
                  <a:extLst>
                    <a:ext uri="{9D8B030D-6E8A-4147-A177-3AD203B41FA5}">
                      <a16:colId xmlns:a16="http://schemas.microsoft.com/office/drawing/2014/main" val="3129497578"/>
                    </a:ext>
                  </a:extLst>
                </a:gridCol>
                <a:gridCol w="1185991">
                  <a:extLst>
                    <a:ext uri="{9D8B030D-6E8A-4147-A177-3AD203B41FA5}">
                      <a16:colId xmlns:a16="http://schemas.microsoft.com/office/drawing/2014/main" val="347803868"/>
                    </a:ext>
                  </a:extLst>
                </a:gridCol>
              </a:tblGrid>
              <a:tr h="1321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rt_id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user_id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dirty="0"/>
                        <a:t>status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만료시간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74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active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 err="1"/>
                        <a:t>일뒤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01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 err="1"/>
                        <a:t>일뒤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79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 err="1"/>
                        <a:t>일뒤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1146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016C806-F74F-764C-C648-7C323E0D4318}"/>
              </a:ext>
            </a:extLst>
          </p:cNvPr>
          <p:cNvSpPr txBox="1"/>
          <p:nvPr/>
        </p:nvSpPr>
        <p:spPr>
          <a:xfrm>
            <a:off x="530857" y="1563107"/>
            <a:ext cx="52210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가장 최근에 만들어져서 한번도 사용되지 않은 </a:t>
            </a:r>
            <a:r>
              <a:rPr kumimoji="1" lang="en-US" altLang="ko-KR" dirty="0"/>
              <a:t>Refresh token</a:t>
            </a:r>
            <a:r>
              <a:rPr kumimoji="1" lang="ko-KR" altLang="en-US" dirty="0"/>
              <a:t>만 사용가능</a:t>
            </a:r>
            <a:endParaRPr kumimoji="1" lang="en-US" altLang="ko-KR" dirty="0"/>
          </a:p>
          <a:p>
            <a:pPr algn="l"/>
            <a:endParaRPr kumimoji="1" lang="en-US" altLang="ko-K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주황색 토큰 만료 마다 </a:t>
            </a:r>
            <a:r>
              <a:rPr kumimoji="1" lang="en-US" altLang="ko-KR" dirty="0"/>
              <a:t>/refresh</a:t>
            </a:r>
            <a:r>
              <a:rPr kumimoji="1" lang="ko-KR" altLang="en-US" dirty="0"/>
              <a:t> 요청</a:t>
            </a:r>
            <a:endParaRPr kumimoji="1" lang="en-US" altLang="ko-K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7ACE8-2804-5891-5EDD-E1386508B3AA}"/>
              </a:ext>
            </a:extLst>
          </p:cNvPr>
          <p:cNvSpPr txBox="1"/>
          <p:nvPr/>
        </p:nvSpPr>
        <p:spPr>
          <a:xfrm>
            <a:off x="6361382" y="1030923"/>
            <a:ext cx="56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rgbClr val="FF0000"/>
                </a:solidFill>
              </a:rPr>
              <a:t>주황색 토큰 유효기간 동안은 </a:t>
            </a:r>
            <a:r>
              <a:rPr kumimoji="1" lang="en-US" altLang="ko-KR" b="1" dirty="0">
                <a:solidFill>
                  <a:srgbClr val="FF0000"/>
                </a:solidFill>
              </a:rPr>
              <a:t>stateless</a:t>
            </a:r>
            <a:r>
              <a:rPr kumimoji="1" lang="ko-KR" altLang="en-US" b="1" dirty="0">
                <a:solidFill>
                  <a:srgbClr val="FF0000"/>
                </a:solidFill>
              </a:rPr>
              <a:t> </a:t>
            </a:r>
            <a:r>
              <a:rPr kumimoji="1" lang="ko-KR" altLang="en-US" dirty="0">
                <a:solidFill>
                  <a:srgbClr val="FF0000"/>
                </a:solidFill>
              </a:rPr>
              <a:t>하게 사용</a:t>
            </a:r>
            <a:endParaRPr kumimoji="1" lang="en-US" altLang="ko-KR" dirty="0">
              <a:solidFill>
                <a:srgbClr val="FF0000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7A4AB00-E6AB-A310-6D6E-7159BAC5A1D6}"/>
              </a:ext>
            </a:extLst>
          </p:cNvPr>
          <p:cNvSpPr/>
          <p:nvPr/>
        </p:nvSpPr>
        <p:spPr>
          <a:xfrm>
            <a:off x="5054286" y="2260639"/>
            <a:ext cx="2328862" cy="17859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AT</a:t>
            </a:r>
          </a:p>
          <a:p>
            <a:pPr algn="ctr"/>
            <a:r>
              <a:rPr kumimoji="1" lang="ko-KR" altLang="en-US" dirty="0"/>
              <a:t>이메일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123</a:t>
            </a:r>
          </a:p>
          <a:p>
            <a:pPr algn="ctr"/>
            <a:r>
              <a:rPr kumimoji="1" lang="ko-KR" altLang="en-US" dirty="0"/>
              <a:t>발급일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yy.mm.dd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분</a:t>
            </a:r>
            <a:endParaRPr kumimoji="1" lang="en-US" altLang="ko-KR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DFE973-9439-1C1F-4F3E-7BC23491FAC6}"/>
              </a:ext>
            </a:extLst>
          </p:cNvPr>
          <p:cNvSpPr/>
          <p:nvPr/>
        </p:nvSpPr>
        <p:spPr>
          <a:xfrm>
            <a:off x="5525773" y="3429000"/>
            <a:ext cx="1414462" cy="291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365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9DE7-B9B2-0613-6E11-C3800B44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E13AE-7B3D-622A-62C8-9769E271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5.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JWT</a:t>
            </a:r>
            <a:r>
              <a:rPr lang="ko-KR" altLang="en-US" b="1" dirty="0">
                <a:latin typeface="+mj-lt"/>
              </a:rPr>
              <a:t>는 언제 써야 좋을까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98F897A-29BE-85BC-6D19-770EF058F78A}"/>
              </a:ext>
            </a:extLst>
          </p:cNvPr>
          <p:cNvGraphicFramePr>
            <a:graphicFrameLocks noGrp="1"/>
          </p:cNvGraphicFramePr>
          <p:nvPr/>
        </p:nvGraphicFramePr>
        <p:xfrm>
          <a:off x="1635641" y="1995746"/>
          <a:ext cx="8475922" cy="2539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9941">
                  <a:extLst>
                    <a:ext uri="{9D8B030D-6E8A-4147-A177-3AD203B41FA5}">
                      <a16:colId xmlns:a16="http://schemas.microsoft.com/office/drawing/2014/main" val="969780551"/>
                    </a:ext>
                  </a:extLst>
                </a:gridCol>
                <a:gridCol w="3141772">
                  <a:extLst>
                    <a:ext uri="{9D8B030D-6E8A-4147-A177-3AD203B41FA5}">
                      <a16:colId xmlns:a16="http://schemas.microsoft.com/office/drawing/2014/main" val="1314103564"/>
                    </a:ext>
                  </a:extLst>
                </a:gridCol>
                <a:gridCol w="3514209">
                  <a:extLst>
                    <a:ext uri="{9D8B030D-6E8A-4147-A177-3AD203B41FA5}">
                      <a16:colId xmlns:a16="http://schemas.microsoft.com/office/drawing/2014/main" val="3444495260"/>
                    </a:ext>
                  </a:extLst>
                </a:gridCol>
              </a:tblGrid>
              <a:tr h="523265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session</a:t>
                      </a:r>
                      <a:endParaRPr lang="ko-KR" altLang="en-US" sz="1400" dirty="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JWT</a:t>
                      </a:r>
                      <a:endParaRPr lang="ko-KR" altLang="en-US" sz="1400" dirty="0">
                        <a:latin typeface="Pretendard ExtraBold" panose="02000903000000020004" pitchFamily="2" charset="-127"/>
                        <a:ea typeface="Pretendard ExtraBold" panose="02000903000000020004" pitchFamily="2" charset="-127"/>
                        <a:cs typeface="Pretendard ExtraBold" panose="020009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9406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요청 처리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모든 요청마다 세션</a:t>
                      </a:r>
                      <a:r>
                        <a:rPr lang="en" sz="1200" dirty="0"/>
                        <a:t>ID </a:t>
                      </a:r>
                      <a:r>
                        <a:rPr lang="ko-KR" altLang="en-US" sz="1200" dirty="0"/>
                        <a:t>확인 → 서버 저장소 조회 필요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평소엔 토큰</a:t>
                      </a:r>
                      <a:r>
                        <a:rPr lang="en" sz="1200" dirty="0"/>
                        <a:t> </a:t>
                      </a:r>
                      <a:r>
                        <a:rPr lang="ko-KR" altLang="en-US" sz="1200" dirty="0"/>
                        <a:t>검증만 → 서버 저장소 조회 불필요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91631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로그아웃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강제 만료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서버가 세션 무효화 → 즉시 반영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AT</a:t>
                      </a:r>
                      <a:r>
                        <a:rPr lang="ko-KR" altLang="en-US" sz="1200" dirty="0"/>
                        <a:t>는 만료 전까지 유효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RT Rotation</a:t>
                      </a:r>
                      <a:r>
                        <a:rPr lang="ko-KR" altLang="en-US" sz="1200" dirty="0" err="1"/>
                        <a:t>으로</a:t>
                      </a:r>
                      <a:r>
                        <a:rPr lang="ko-KR" altLang="en-US" sz="1200" dirty="0"/>
                        <a:t> 제어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664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복잡도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구현 간단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설계 복잡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AT/RT </a:t>
                      </a:r>
                      <a:r>
                        <a:rPr lang="ko-KR" altLang="en-US" sz="1200" dirty="0"/>
                        <a:t>로직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보안 고려 필요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15047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적합한 상황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사용자 수 적거나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실시간 강제 로그아웃 중요할 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대규모 트래픽</a:t>
                      </a:r>
                      <a:r>
                        <a:rPr lang="en-US" altLang="ko-KR" sz="1200" b="1" dirty="0"/>
                        <a:t>, </a:t>
                      </a:r>
                      <a:r>
                        <a:rPr lang="ko-KR" altLang="en-US" sz="1200" b="1" dirty="0"/>
                        <a:t>분산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 err="1"/>
                        <a:t>마이크로서비스</a:t>
                      </a:r>
                      <a:r>
                        <a:rPr lang="en-US" altLang="ko-KR" sz="1200" b="1" dirty="0"/>
                        <a:t>, </a:t>
                      </a:r>
                      <a:r>
                        <a:rPr lang="ko-KR" altLang="en-US" sz="1200" b="1" dirty="0"/>
                        <a:t>외부 </a:t>
                      </a:r>
                      <a:r>
                        <a:rPr lang="en" sz="1200" b="1" dirty="0"/>
                        <a:t>API </a:t>
                      </a:r>
                      <a:r>
                        <a:rPr lang="ko-KR" altLang="en-US" sz="1200" b="1" dirty="0"/>
                        <a:t>연동이 많은 경우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701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8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9DE7-B9B2-0613-6E11-C3800B44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E13AE-7B3D-622A-62C8-9769E271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6.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session 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저장 위치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9A0F4-0D30-4AAF-8439-B40CE94CC010}"/>
              </a:ext>
            </a:extLst>
          </p:cNvPr>
          <p:cNvSpPr txBox="1"/>
          <p:nvPr/>
        </p:nvSpPr>
        <p:spPr>
          <a:xfrm>
            <a:off x="530857" y="967203"/>
            <a:ext cx="4915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+mj-ea"/>
                <a:ea typeface="+mj-ea"/>
              </a:rPr>
              <a:t>6.1. WAS </a:t>
            </a:r>
            <a:r>
              <a:rPr kumimoji="1" lang="ko-KR" altLang="en-US" b="1" dirty="0">
                <a:latin typeface="+mj-ea"/>
                <a:ea typeface="+mj-ea"/>
              </a:rPr>
              <a:t>인메모리 </a:t>
            </a:r>
            <a:r>
              <a:rPr kumimoji="1" lang="en-US" altLang="ko-KR" b="1" dirty="0">
                <a:latin typeface="+mj-ea"/>
                <a:ea typeface="+mj-ea"/>
              </a:rPr>
              <a:t>(</a:t>
            </a:r>
            <a:r>
              <a:rPr kumimoji="1" lang="ko-KR" altLang="en-US" b="1" dirty="0" err="1">
                <a:latin typeface="+mj-ea"/>
                <a:ea typeface="+mj-ea"/>
              </a:rPr>
              <a:t>톰캣</a:t>
            </a:r>
            <a:r>
              <a:rPr kumimoji="1" lang="en-US" altLang="ko-KR" b="1" dirty="0">
                <a:latin typeface="+mj-ea"/>
                <a:ea typeface="+mj-ea"/>
              </a:rPr>
              <a:t>, </a:t>
            </a:r>
            <a:r>
              <a:rPr kumimoji="1" lang="ko-KR" altLang="en-US" b="1" dirty="0" err="1">
                <a:latin typeface="+mj-ea"/>
                <a:ea typeface="+mj-ea"/>
              </a:rPr>
              <a:t>서블릿</a:t>
            </a:r>
            <a:r>
              <a:rPr kumimoji="1" lang="ko-KR" altLang="en-US" b="1" dirty="0">
                <a:latin typeface="+mj-ea"/>
                <a:ea typeface="+mj-ea"/>
              </a:rPr>
              <a:t> </a:t>
            </a:r>
            <a:r>
              <a:rPr kumimoji="1" lang="en-US" altLang="ko-KR" b="1" dirty="0">
                <a:latin typeface="+mj-ea"/>
                <a:ea typeface="+mj-ea"/>
              </a:rPr>
              <a:t>container)</a:t>
            </a:r>
            <a:r>
              <a:rPr kumimoji="1" lang="ko-KR" altLang="en-US" b="1" dirty="0">
                <a:latin typeface="+mj-ea"/>
                <a:ea typeface="+mj-ea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CB655-EB9B-46D7-BC6E-0B7323788156}"/>
              </a:ext>
            </a:extLst>
          </p:cNvPr>
          <p:cNvSpPr txBox="1"/>
          <p:nvPr/>
        </p:nvSpPr>
        <p:spPr>
          <a:xfrm>
            <a:off x="530857" y="1563107"/>
            <a:ext cx="7854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dirty="0"/>
              <a:t>WAS </a:t>
            </a:r>
            <a:r>
              <a:rPr kumimoji="1" lang="ko-KR" altLang="en-US" dirty="0"/>
              <a:t>서버가 </a:t>
            </a:r>
            <a:r>
              <a:rPr kumimoji="1" lang="en-US" altLang="ko-KR" dirty="0"/>
              <a:t>JVM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힙</a:t>
            </a:r>
            <a:r>
              <a:rPr kumimoji="1" lang="ko-KR" altLang="en-US" dirty="0"/>
              <a:t> 메모리에 </a:t>
            </a:r>
            <a:r>
              <a:rPr kumimoji="1" lang="en-US" altLang="ko-KR" dirty="0" err="1"/>
              <a:t>HttpSession</a:t>
            </a:r>
            <a:r>
              <a:rPr kumimoji="1" lang="en-US" altLang="ko-KR" dirty="0"/>
              <a:t> </a:t>
            </a:r>
            <a:r>
              <a:rPr kumimoji="1" lang="ko-KR" altLang="en-US" dirty="0"/>
              <a:t>객체에 로그인 정보 저장</a:t>
            </a:r>
            <a:endParaRPr kumimoji="1" lang="en-US" altLang="ko-K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rgbClr val="FF0000"/>
                </a:solidFill>
              </a:rPr>
              <a:t>여러 개의 서버를 사용하는 경우 문제 발생</a:t>
            </a:r>
            <a:endParaRPr kumimoji="1" lang="en-US" altLang="ko-KR" dirty="0">
              <a:solidFill>
                <a:srgbClr val="FF0000"/>
              </a:solidFill>
            </a:endParaRPr>
          </a:p>
        </p:txBody>
      </p:sp>
      <p:pic>
        <p:nvPicPr>
          <p:cNvPr id="1027" name="Picture 3" descr="로드 밸런싱(Load Balancing): 서버 부하 분산 기술">
            <a:extLst>
              <a:ext uri="{FF2B5EF4-FFF2-40B4-BE49-F238E27FC236}">
                <a16:creationId xmlns:a16="http://schemas.microsoft.com/office/drawing/2014/main" id="{5CD372E4-52F2-4F0F-9B30-77992EDB6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037" y="2607013"/>
            <a:ext cx="5723925" cy="304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29EEE91-DB6A-44F4-88C4-DD9B24CF19E1}"/>
              </a:ext>
            </a:extLst>
          </p:cNvPr>
          <p:cNvSpPr/>
          <p:nvPr/>
        </p:nvSpPr>
        <p:spPr>
          <a:xfrm>
            <a:off x="7678012" y="2621604"/>
            <a:ext cx="1279950" cy="958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3959B-8C98-43B8-8344-1DE162023A9B}"/>
              </a:ext>
            </a:extLst>
          </p:cNvPr>
          <p:cNvSpPr txBox="1"/>
          <p:nvPr/>
        </p:nvSpPr>
        <p:spPr>
          <a:xfrm>
            <a:off x="9117353" y="2987810"/>
            <a:ext cx="28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/>
              <a:t>A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661E3-C18B-4A61-80E4-9B157F9E8021}"/>
              </a:ext>
            </a:extLst>
          </p:cNvPr>
          <p:cNvSpPr txBox="1"/>
          <p:nvPr/>
        </p:nvSpPr>
        <p:spPr>
          <a:xfrm>
            <a:off x="9114464" y="3761583"/>
            <a:ext cx="28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/>
              <a:t>B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5D1FF-C8D8-42CD-8F0D-50A11E417BA5}"/>
              </a:ext>
            </a:extLst>
          </p:cNvPr>
          <p:cNvSpPr txBox="1"/>
          <p:nvPr/>
        </p:nvSpPr>
        <p:spPr>
          <a:xfrm>
            <a:off x="9114464" y="465014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9951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9DE7-B9B2-0613-6E11-C3800B44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E13AE-7B3D-622A-62C8-9769E271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6.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session &amp; JWT(AT, RT) 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저장 위치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9A0F4-0D30-4AAF-8439-B40CE94CC010}"/>
              </a:ext>
            </a:extLst>
          </p:cNvPr>
          <p:cNvSpPr txBox="1"/>
          <p:nvPr/>
        </p:nvSpPr>
        <p:spPr>
          <a:xfrm>
            <a:off x="530857" y="967203"/>
            <a:ext cx="233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+mj-ea"/>
                <a:ea typeface="+mj-ea"/>
              </a:rPr>
              <a:t>6.2. Sticky session </a:t>
            </a:r>
            <a:r>
              <a:rPr kumimoji="1" lang="ko-KR" altLang="en-US" b="1" dirty="0">
                <a:latin typeface="+mj-ea"/>
                <a:ea typeface="+mj-ea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CB655-EB9B-46D7-BC6E-0B7323788156}"/>
              </a:ext>
            </a:extLst>
          </p:cNvPr>
          <p:cNvSpPr txBox="1"/>
          <p:nvPr/>
        </p:nvSpPr>
        <p:spPr>
          <a:xfrm>
            <a:off x="530856" y="1563107"/>
            <a:ext cx="9692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로드밸런서가</a:t>
            </a:r>
            <a:r>
              <a:rPr kumimoji="1" lang="ko-KR" altLang="en-US" dirty="0"/>
              <a:t> 한번 로그인 했던 서버로 요청을 계속 보내도록 고정하는 방식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rgbClr val="FF0000"/>
                </a:solidFill>
              </a:rPr>
              <a:t>로드 </a:t>
            </a:r>
            <a:r>
              <a:rPr kumimoji="1" lang="ko-KR" altLang="en-US" dirty="0" err="1">
                <a:solidFill>
                  <a:srgbClr val="FF0000"/>
                </a:solidFill>
              </a:rPr>
              <a:t>밸런싱</a:t>
            </a:r>
            <a:r>
              <a:rPr kumimoji="1" lang="ko-KR" altLang="en-US" dirty="0">
                <a:solidFill>
                  <a:srgbClr val="FF0000"/>
                </a:solidFill>
              </a:rPr>
              <a:t> 분산 효과가 </a:t>
            </a:r>
            <a:r>
              <a:rPr kumimoji="1" lang="ko-KR" altLang="en-US" dirty="0" err="1">
                <a:solidFill>
                  <a:srgbClr val="FF0000"/>
                </a:solidFill>
              </a:rPr>
              <a:t>안좋아짐</a:t>
            </a:r>
            <a:r>
              <a:rPr kumimoji="1" lang="en-US" altLang="ko-KR" dirty="0">
                <a:solidFill>
                  <a:srgbClr val="FF0000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rgbClr val="FF0000"/>
                </a:solidFill>
              </a:rPr>
              <a:t>항상 보내던 서버가 다운 되면 다른 노드로 갔을 때 세션 정보가 없어짐</a:t>
            </a:r>
            <a:endParaRPr kumimoji="1" lang="en-US" altLang="ko-KR" dirty="0">
              <a:solidFill>
                <a:srgbClr val="FF0000"/>
              </a:solidFill>
            </a:endParaRPr>
          </a:p>
        </p:txBody>
      </p:sp>
      <p:pic>
        <p:nvPicPr>
          <p:cNvPr id="1027" name="Picture 3" descr="로드 밸런싱(Load Balancing): 서버 부하 분산 기술">
            <a:extLst>
              <a:ext uri="{FF2B5EF4-FFF2-40B4-BE49-F238E27FC236}">
                <a16:creationId xmlns:a16="http://schemas.microsoft.com/office/drawing/2014/main" id="{5CD372E4-52F2-4F0F-9B30-77992EDB6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037" y="2607013"/>
            <a:ext cx="5723925" cy="304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29EEE91-DB6A-44F4-88C4-DD9B24CF19E1}"/>
              </a:ext>
            </a:extLst>
          </p:cNvPr>
          <p:cNvSpPr/>
          <p:nvPr/>
        </p:nvSpPr>
        <p:spPr>
          <a:xfrm>
            <a:off x="7678012" y="2621604"/>
            <a:ext cx="1279950" cy="958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3959B-8C98-43B8-8344-1DE162023A9B}"/>
              </a:ext>
            </a:extLst>
          </p:cNvPr>
          <p:cNvSpPr txBox="1"/>
          <p:nvPr/>
        </p:nvSpPr>
        <p:spPr>
          <a:xfrm>
            <a:off x="9117353" y="2987810"/>
            <a:ext cx="28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/>
              <a:t>A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661E3-C18B-4A61-80E4-9B157F9E8021}"/>
              </a:ext>
            </a:extLst>
          </p:cNvPr>
          <p:cNvSpPr txBox="1"/>
          <p:nvPr/>
        </p:nvSpPr>
        <p:spPr>
          <a:xfrm>
            <a:off x="9114464" y="3761583"/>
            <a:ext cx="28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/>
              <a:t>B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5D1FF-C8D8-42CD-8F0D-50A11E417BA5}"/>
              </a:ext>
            </a:extLst>
          </p:cNvPr>
          <p:cNvSpPr txBox="1"/>
          <p:nvPr/>
        </p:nvSpPr>
        <p:spPr>
          <a:xfrm>
            <a:off x="9114464" y="465014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476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9DE7-B9B2-0613-6E11-C3800B44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E13AE-7B3D-622A-62C8-9769E271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6.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session &amp; JWT(AT, RT) 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저장 위치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FA859-54AF-46F0-B9D9-5E7A8EC9806A}"/>
              </a:ext>
            </a:extLst>
          </p:cNvPr>
          <p:cNvSpPr txBox="1"/>
          <p:nvPr/>
        </p:nvSpPr>
        <p:spPr>
          <a:xfrm>
            <a:off x="530857" y="967203"/>
            <a:ext cx="298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+mj-ea"/>
                <a:ea typeface="+mj-ea"/>
              </a:rPr>
              <a:t>6.3. </a:t>
            </a:r>
            <a:r>
              <a:rPr kumimoji="1" lang="ko-KR" altLang="en-US" b="1" dirty="0">
                <a:latin typeface="+mj-ea"/>
                <a:ea typeface="+mj-ea"/>
              </a:rPr>
              <a:t>세션 복제</a:t>
            </a:r>
            <a:r>
              <a:rPr kumimoji="1" lang="en-US" altLang="ko-KR" b="1" dirty="0">
                <a:latin typeface="+mj-ea"/>
                <a:ea typeface="+mj-ea"/>
              </a:rPr>
              <a:t>(</a:t>
            </a:r>
            <a:r>
              <a:rPr kumimoji="1" lang="ko-KR" altLang="en-US" b="1" dirty="0">
                <a:latin typeface="+mj-ea"/>
                <a:ea typeface="+mj-ea"/>
              </a:rPr>
              <a:t>클러스터링</a:t>
            </a:r>
            <a:r>
              <a:rPr kumimoji="1" lang="en-US" altLang="ko-KR" b="1" dirty="0">
                <a:latin typeface="+mj-ea"/>
                <a:ea typeface="+mj-ea"/>
              </a:rPr>
              <a:t>)</a:t>
            </a:r>
            <a:endParaRPr kumimoji="1" lang="ko-KR" altLang="en-US" b="1" dirty="0">
              <a:latin typeface="+mj-ea"/>
              <a:ea typeface="+mj-ea"/>
            </a:endParaRPr>
          </a:p>
        </p:txBody>
      </p:sp>
      <p:pic>
        <p:nvPicPr>
          <p:cNvPr id="2050" name="Picture 2" descr="서버가 여러 대일 때 세션 관리는 어떻게 할까?">
            <a:extLst>
              <a:ext uri="{FF2B5EF4-FFF2-40B4-BE49-F238E27FC236}">
                <a16:creationId xmlns:a16="http://schemas.microsoft.com/office/drawing/2014/main" id="{05E589C9-1C50-4C68-BCD7-C86DA121D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102" y="2081718"/>
            <a:ext cx="6164816" cy="328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96A23D-1D0F-479C-93B7-B756F45C1816}"/>
              </a:ext>
            </a:extLst>
          </p:cNvPr>
          <p:cNvSpPr txBox="1"/>
          <p:nvPr/>
        </p:nvSpPr>
        <p:spPr>
          <a:xfrm>
            <a:off x="530856" y="1563107"/>
            <a:ext cx="9692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다른 서버로 요청이 가도 세션 정보가 </a:t>
            </a:r>
            <a:r>
              <a:rPr kumimoji="1" lang="ko-KR" altLang="en-US" dirty="0" err="1"/>
              <a:t>복제되어있음</a:t>
            </a:r>
            <a:r>
              <a:rPr kumimoji="1" lang="en-US" altLang="ko-KR" dirty="0"/>
              <a:t>.</a:t>
            </a:r>
            <a:endParaRPr kumimoji="1" lang="ko-KR" alt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rgbClr val="FF0000"/>
                </a:solidFill>
              </a:rPr>
              <a:t>한번만 요청 했는데 다른 서버로 복제하는 추가 요청이 발생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solidFill>
                  <a:srgbClr val="FF0000"/>
                </a:solidFill>
              </a:rPr>
              <a:t>복제하는 만큼 자원 소모 증가</a:t>
            </a:r>
            <a:endParaRPr kumimoji="1"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741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9DE7-B9B2-0613-6E11-C3800B44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E13AE-7B3D-622A-62C8-9769E271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6.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session &amp; JWT(AT, RT) 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저장 위치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4CD73-C064-47F2-8414-C3DE7C02C662}"/>
              </a:ext>
            </a:extLst>
          </p:cNvPr>
          <p:cNvSpPr txBox="1"/>
          <p:nvPr/>
        </p:nvSpPr>
        <p:spPr>
          <a:xfrm>
            <a:off x="530857" y="967203"/>
            <a:ext cx="336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+mj-ea"/>
                <a:ea typeface="+mj-ea"/>
              </a:rPr>
              <a:t>6.4. Redis(</a:t>
            </a:r>
            <a:r>
              <a:rPr kumimoji="1" lang="ko-KR" altLang="en-US" b="1" dirty="0">
                <a:latin typeface="+mj-ea"/>
                <a:ea typeface="+mj-ea"/>
              </a:rPr>
              <a:t>외부 저장소</a:t>
            </a:r>
            <a:r>
              <a:rPr kumimoji="1" lang="en-US" altLang="ko-KR" b="1" dirty="0">
                <a:latin typeface="+mj-ea"/>
                <a:ea typeface="+mj-ea"/>
              </a:rPr>
              <a:t>) - </a:t>
            </a:r>
            <a:r>
              <a:rPr kumimoji="1" lang="ko-KR" altLang="en-US" b="1" dirty="0">
                <a:latin typeface="+mj-ea"/>
                <a:ea typeface="+mj-ea"/>
              </a:rPr>
              <a:t>권장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3301C80-09ED-4F94-BAB0-9AC1F1687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668" y="2178338"/>
            <a:ext cx="6507397" cy="364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0B69D7-A9E5-40E4-BBFD-1D0EB7C93D7F}"/>
              </a:ext>
            </a:extLst>
          </p:cNvPr>
          <p:cNvSpPr txBox="1"/>
          <p:nvPr/>
        </p:nvSpPr>
        <p:spPr>
          <a:xfrm>
            <a:off x="530856" y="1563107"/>
            <a:ext cx="96929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세션 정보를 한 곳에만 저장해도 된다 </a:t>
            </a:r>
            <a:r>
              <a:rPr kumimoji="1" lang="en-US" altLang="ko-KR" sz="1600" dirty="0"/>
              <a:t>(</a:t>
            </a:r>
            <a:r>
              <a:rPr kumimoji="1" lang="ko-KR" altLang="en-US" sz="1600" dirty="0"/>
              <a:t>동기화 불필요</a:t>
            </a:r>
            <a:r>
              <a:rPr kumimoji="1" lang="en-US" altLang="ko-KR" sz="1600" dirty="0"/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어느 서버로 요청이 분산되어도 세션 정보에 접근할 수 있다</a:t>
            </a:r>
            <a:r>
              <a:rPr kumimoji="1" lang="en-US" altLang="ko-KR" sz="1600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세션 만료 기간도 </a:t>
            </a:r>
            <a:r>
              <a:rPr kumimoji="1" lang="en-US" altLang="ko-KR" sz="1600" dirty="0" err="1"/>
              <a:t>redis</a:t>
            </a:r>
            <a:r>
              <a:rPr kumimoji="1" lang="ko-KR" altLang="en-US" sz="1600" dirty="0"/>
              <a:t>에서 쉽게 설정 가능하다</a:t>
            </a:r>
            <a:r>
              <a:rPr kumimoji="1" lang="en-US" altLang="ko-KR" sz="1600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solidFill>
                  <a:srgbClr val="FF0000"/>
                </a:solidFill>
              </a:rPr>
              <a:t>Redis </a:t>
            </a:r>
            <a:r>
              <a:rPr kumimoji="1" lang="ko-KR" altLang="en-US" sz="1600" dirty="0">
                <a:solidFill>
                  <a:srgbClr val="FF0000"/>
                </a:solidFill>
              </a:rPr>
              <a:t>서버에 대한 추가적인 관리가 필요하다</a:t>
            </a:r>
            <a:r>
              <a:rPr kumimoji="1" lang="en-US" altLang="ko-KR" sz="16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8200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9DE7-B9B2-0613-6E11-C3800B44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E13AE-7B3D-622A-62C8-9769E271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7.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JWT(AT, RT) 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저장 위치</a:t>
            </a:r>
            <a:endParaRPr lang="ko-KR" altLang="en-US" b="1" dirty="0">
              <a:latin typeface="+mj-lt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98F897A-29BE-85BC-6D19-770EF058F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748809"/>
              </p:ext>
            </p:extLst>
          </p:nvPr>
        </p:nvGraphicFramePr>
        <p:xfrm>
          <a:off x="1504650" y="2023287"/>
          <a:ext cx="9182700" cy="281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243">
                  <a:extLst>
                    <a:ext uri="{9D8B030D-6E8A-4147-A177-3AD203B41FA5}">
                      <a16:colId xmlns:a16="http://schemas.microsoft.com/office/drawing/2014/main" val="2059215890"/>
                    </a:ext>
                  </a:extLst>
                </a:gridCol>
                <a:gridCol w="1517515">
                  <a:extLst>
                    <a:ext uri="{9D8B030D-6E8A-4147-A177-3AD203B41FA5}">
                      <a16:colId xmlns:a16="http://schemas.microsoft.com/office/drawing/2014/main" val="2543663960"/>
                    </a:ext>
                  </a:extLst>
                </a:gridCol>
                <a:gridCol w="1167319">
                  <a:extLst>
                    <a:ext uri="{9D8B030D-6E8A-4147-A177-3AD203B41FA5}">
                      <a16:colId xmlns:a16="http://schemas.microsoft.com/office/drawing/2014/main" val="2746320598"/>
                    </a:ext>
                  </a:extLst>
                </a:gridCol>
                <a:gridCol w="1984443">
                  <a:extLst>
                    <a:ext uri="{9D8B030D-6E8A-4147-A177-3AD203B41FA5}">
                      <a16:colId xmlns:a16="http://schemas.microsoft.com/office/drawing/2014/main" val="969780551"/>
                    </a:ext>
                  </a:extLst>
                </a:gridCol>
                <a:gridCol w="1138136">
                  <a:extLst>
                    <a:ext uri="{9D8B030D-6E8A-4147-A177-3AD203B41FA5}">
                      <a16:colId xmlns:a16="http://schemas.microsoft.com/office/drawing/2014/main" val="1314103564"/>
                    </a:ext>
                  </a:extLst>
                </a:gridCol>
                <a:gridCol w="1848044">
                  <a:extLst>
                    <a:ext uri="{9D8B030D-6E8A-4147-A177-3AD203B41FA5}">
                      <a16:colId xmlns:a16="http://schemas.microsoft.com/office/drawing/2014/main" val="3444495260"/>
                    </a:ext>
                  </a:extLst>
                </a:gridCol>
              </a:tblGrid>
              <a:tr h="523265"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저장위치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/>
                        <a:t>새로고침</a:t>
                      </a:r>
                      <a:r>
                        <a:rPr lang="ko-KR" altLang="en-US" sz="1200" dirty="0"/>
                        <a:t> 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권장도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9406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메모리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(JS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변수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/ SPA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상태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사라짐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rgbClr val="FF0000"/>
                          </a:solidFill>
                        </a:rPr>
                        <a:t>새로고침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 시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XSS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리스크 최소화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SPA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에 적합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solidFill>
                            <a:srgbClr val="FF0000"/>
                          </a:solidFill>
                        </a:rPr>
                        <a:t>새로고침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 시 재발급 필요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복구로직 필요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권장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SPA)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RT +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자동재발급 조합 권장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91631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HttpOnly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쿠키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자동 전송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XSS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로부터 강함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CSRF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대비 필요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rgbClr val="FF0000"/>
                          </a:solidFill>
                        </a:rPr>
                        <a:t>SameSite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/CSRF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토큰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권장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옵션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AT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를 쿠키에 둘 때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CSRF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설계 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509738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localStorage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사용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구현 쉬움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XSS</a:t>
                      </a:r>
                      <a:r>
                        <a:rPr lang="ko-KR" altLang="en-US" sz="1200" dirty="0"/>
                        <a:t>에 매우 취약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b="1" dirty="0" err="1"/>
                        <a:t>비권장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/>
                        <a:t>비권장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RT </a:t>
                      </a:r>
                      <a:r>
                        <a:rPr lang="ko-KR" altLang="en-US" sz="1200" dirty="0"/>
                        <a:t>절대 금지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48297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sessionStorage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탭 닫으면 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탭 단위 보관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 err="1"/>
                        <a:t>세션성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XSS </a:t>
                      </a:r>
                      <a:r>
                        <a:rPr lang="ko-KR" altLang="en-US" sz="1200" dirty="0"/>
                        <a:t>취약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 err="1"/>
                        <a:t>비권장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/>
                        <a:t>비권장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SPA</a:t>
                      </a:r>
                      <a:r>
                        <a:rPr lang="ko-KR" altLang="en-US" sz="1200" dirty="0"/>
                        <a:t>에서도 새 탭엔 </a:t>
                      </a:r>
                      <a:r>
                        <a:rPr lang="ko-KR" altLang="en-US" sz="1200" dirty="0" err="1"/>
                        <a:t>안씀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664991"/>
                  </a:ext>
                </a:extLst>
              </a:tr>
            </a:tbl>
          </a:graphicData>
        </a:graphic>
      </p:graphicFrame>
      <p:sp>
        <p:nvSpPr>
          <p:cNvPr id="7" name="모서리가 둥근 직사각형 15">
            <a:extLst>
              <a:ext uri="{FF2B5EF4-FFF2-40B4-BE49-F238E27FC236}">
                <a16:creationId xmlns:a16="http://schemas.microsoft.com/office/drawing/2014/main" id="{73C14D9B-5AFE-43DD-8E65-93DFBDE31F5B}"/>
              </a:ext>
            </a:extLst>
          </p:cNvPr>
          <p:cNvSpPr/>
          <p:nvPr/>
        </p:nvSpPr>
        <p:spPr>
          <a:xfrm>
            <a:off x="3257499" y="412111"/>
            <a:ext cx="1842625" cy="102127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AT</a:t>
            </a:r>
          </a:p>
          <a:p>
            <a:pPr algn="ctr"/>
            <a:r>
              <a:rPr kumimoji="1" lang="ko-KR" altLang="en-US" sz="1400" dirty="0"/>
              <a:t>이메일</a:t>
            </a:r>
            <a:r>
              <a:rPr kumimoji="1" lang="en-US" altLang="ko-KR" sz="1400" dirty="0"/>
              <a:t>: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123</a:t>
            </a:r>
          </a:p>
          <a:p>
            <a:pPr algn="ctr"/>
            <a:r>
              <a:rPr kumimoji="1" lang="ko-KR" altLang="en-US" sz="1400" dirty="0"/>
              <a:t>발급일</a:t>
            </a:r>
            <a:r>
              <a:rPr kumimoji="1" lang="en-US" altLang="ko-KR" sz="1400" dirty="0"/>
              <a:t>:</a:t>
            </a:r>
            <a:r>
              <a:rPr kumimoji="1" lang="ko-KR" altLang="en-US" sz="1400" dirty="0"/>
              <a:t> </a:t>
            </a:r>
            <a:r>
              <a:rPr kumimoji="1" lang="en-US" altLang="ko-KR" sz="1400" dirty="0" err="1"/>
              <a:t>yy.mm.dd</a:t>
            </a:r>
            <a:endParaRPr kumimoji="1" lang="en-US" altLang="ko-KR" sz="1400" dirty="0"/>
          </a:p>
          <a:p>
            <a:pPr algn="ctr"/>
            <a:r>
              <a:rPr kumimoji="1" lang="ko-KR" altLang="en-US" sz="1400" dirty="0"/>
              <a:t>유효기간</a:t>
            </a:r>
            <a:r>
              <a:rPr kumimoji="1" lang="en-US" altLang="ko-KR" sz="1400" dirty="0"/>
              <a:t>:3</a:t>
            </a:r>
            <a:r>
              <a:rPr kumimoji="1" lang="ko-KR" altLang="en-US" sz="1400" dirty="0"/>
              <a:t>분</a:t>
            </a:r>
            <a:endParaRPr kumimoji="1"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892479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9DE7-B9B2-0613-6E11-C3800B44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E13AE-7B3D-622A-62C8-9769E271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7.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JWT(AT, RT) </a:t>
            </a:r>
            <a:r>
              <a:rPr lang="ko-KR" altLang="en-US" sz="2000" b="1" spc="-15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저장 위치</a:t>
            </a:r>
            <a:endParaRPr lang="ko-KR" altLang="en-US" b="1" dirty="0">
              <a:latin typeface="+mj-lt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98F897A-29BE-85BC-6D19-770EF058F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11541"/>
              </p:ext>
            </p:extLst>
          </p:nvPr>
        </p:nvGraphicFramePr>
        <p:xfrm>
          <a:off x="1378087" y="1840104"/>
          <a:ext cx="9182700" cy="3451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7215">
                  <a:extLst>
                    <a:ext uri="{9D8B030D-6E8A-4147-A177-3AD203B41FA5}">
                      <a16:colId xmlns:a16="http://schemas.microsoft.com/office/drawing/2014/main" val="2059215890"/>
                    </a:ext>
                  </a:extLst>
                </a:gridCol>
                <a:gridCol w="1397543">
                  <a:extLst>
                    <a:ext uri="{9D8B030D-6E8A-4147-A177-3AD203B41FA5}">
                      <a16:colId xmlns:a16="http://schemas.microsoft.com/office/drawing/2014/main" val="2543663960"/>
                    </a:ext>
                  </a:extLst>
                </a:gridCol>
                <a:gridCol w="1167319">
                  <a:extLst>
                    <a:ext uri="{9D8B030D-6E8A-4147-A177-3AD203B41FA5}">
                      <a16:colId xmlns:a16="http://schemas.microsoft.com/office/drawing/2014/main" val="2746320598"/>
                    </a:ext>
                  </a:extLst>
                </a:gridCol>
                <a:gridCol w="1984443">
                  <a:extLst>
                    <a:ext uri="{9D8B030D-6E8A-4147-A177-3AD203B41FA5}">
                      <a16:colId xmlns:a16="http://schemas.microsoft.com/office/drawing/2014/main" val="969780551"/>
                    </a:ext>
                  </a:extLst>
                </a:gridCol>
                <a:gridCol w="1138136">
                  <a:extLst>
                    <a:ext uri="{9D8B030D-6E8A-4147-A177-3AD203B41FA5}">
                      <a16:colId xmlns:a16="http://schemas.microsoft.com/office/drawing/2014/main" val="1314103564"/>
                    </a:ext>
                  </a:extLst>
                </a:gridCol>
                <a:gridCol w="1848044">
                  <a:extLst>
                    <a:ext uri="{9D8B030D-6E8A-4147-A177-3AD203B41FA5}">
                      <a16:colId xmlns:a16="http://schemas.microsoft.com/office/drawing/2014/main" val="3444495260"/>
                    </a:ext>
                  </a:extLst>
                </a:gridCol>
              </a:tblGrid>
              <a:tr h="523265"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저장위치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/>
                        <a:t>새로고침</a:t>
                      </a:r>
                      <a:r>
                        <a:rPr lang="ko-KR" altLang="en-US" sz="1200" dirty="0"/>
                        <a:t> 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권장도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9406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FF0000"/>
                          </a:solidFill>
                        </a:rPr>
                        <a:t>HttpOnly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쿠키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권장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XSS</a:t>
                      </a:r>
                      <a:r>
                        <a:rPr lang="ko-KR" altLang="en-US" sz="1200">
                          <a:solidFill>
                            <a:srgbClr val="FF0000"/>
                          </a:solidFill>
                        </a:rPr>
                        <a:t>로부터 강함</a:t>
                      </a:r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>
                          <a:solidFill>
                            <a:srgbClr val="FF0000"/>
                          </a:solidFill>
                        </a:rPr>
                        <a:t>자동 전송으로 편리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CSRF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대비 필요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쿠키 설정 신중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강력 권장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웹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Path=/auth/refresh, Secure, </a:t>
                      </a:r>
                      <a:r>
                        <a:rPr lang="en-US" sz="1200" dirty="0" err="1">
                          <a:solidFill>
                            <a:srgbClr val="FF0000"/>
                          </a:solidFill>
                        </a:rPr>
                        <a:t>SameSite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권장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91631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서버 저장소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(DB/Redis) —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서버측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RT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관리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N/A 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서버에 보관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서버가 직접 추적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무효화 가능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보안↑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/refresh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호출 시 서버 조회 필요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부하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권장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추적 필요시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RT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원문 대신 </a:t>
                      </a:r>
                      <a:r>
                        <a:rPr lang="en-US" altLang="ko-KR" sz="1200" dirty="0" err="1">
                          <a:solidFill>
                            <a:srgbClr val="FF0000"/>
                          </a:solidFill>
                        </a:rPr>
                        <a:t>jti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해시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+status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저장 권장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509738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localStorage</a:t>
                      </a:r>
                      <a:r>
                        <a:rPr lang="en-US" sz="1200" b="1" dirty="0"/>
                        <a:t> / </a:t>
                      </a:r>
                      <a:r>
                        <a:rPr lang="en-US" sz="1200" b="1" dirty="0" err="1"/>
                        <a:t>sessionStorage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유지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탭 닫으면 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구현 쉬움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XSS</a:t>
                      </a:r>
                      <a:r>
                        <a:rPr lang="ko-KR" altLang="en-US" sz="1200" dirty="0"/>
                        <a:t>에 취약 </a:t>
                      </a:r>
                      <a:r>
                        <a:rPr lang="en-US" altLang="ko-KR" sz="1200" dirty="0"/>
                        <a:t>— </a:t>
                      </a:r>
                      <a:r>
                        <a:rPr lang="ko-KR" altLang="en-US" sz="1200" b="1" dirty="0"/>
                        <a:t>절대 권장</a:t>
                      </a:r>
                      <a:r>
                        <a:rPr lang="en-US" altLang="ko-KR" sz="1200" b="1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dirty="0"/>
                        <a:t>금지권고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RT</a:t>
                      </a:r>
                      <a:r>
                        <a:rPr lang="ko-KR" altLang="en-US" sz="1200" dirty="0"/>
                        <a:t>는 절대 저장 금지 권장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48297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ko-KR" altLang="en-US" sz="1200" b="1"/>
                        <a:t>메모리 </a:t>
                      </a:r>
                      <a:r>
                        <a:rPr lang="en-US" altLang="ko-KR" sz="1200" b="1"/>
                        <a:t>(</a:t>
                      </a:r>
                      <a:r>
                        <a:rPr lang="en-US" sz="1200" b="1"/>
                        <a:t>JS </a:t>
                      </a:r>
                      <a:r>
                        <a:rPr lang="ko-KR" altLang="en-US" sz="1200" b="1"/>
                        <a:t>변수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사라짐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XSS </a:t>
                      </a:r>
                      <a:r>
                        <a:rPr lang="ko-KR" altLang="en-US" sz="1200" dirty="0"/>
                        <a:t>노출 시간 줄임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브라우저 </a:t>
                      </a:r>
                      <a:r>
                        <a:rPr lang="ko-KR" altLang="en-US" sz="1200" dirty="0" err="1"/>
                        <a:t>새로고침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탭 닫힘 시 유실 → </a:t>
                      </a:r>
                      <a:r>
                        <a:rPr lang="en-US" altLang="ko-KR" sz="1200" dirty="0"/>
                        <a:t>UX </a:t>
                      </a:r>
                      <a:r>
                        <a:rPr lang="ko-KR" altLang="en-US" sz="1200" dirty="0"/>
                        <a:t>불편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보통 </a:t>
                      </a:r>
                      <a:r>
                        <a:rPr lang="ko-KR" altLang="en-US" sz="1200" dirty="0" err="1"/>
                        <a:t>비권장</a:t>
                      </a:r>
                      <a:endParaRPr lang="ko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RT</a:t>
                      </a:r>
                      <a:r>
                        <a:rPr lang="ko-KR" altLang="en-US" sz="1200"/>
                        <a:t>는 장기 보관용이므로 부적합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664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ko-KR" altLang="en-US" sz="1200" b="1"/>
                        <a:t>모바일 보안 저장소 </a:t>
                      </a:r>
                      <a:r>
                        <a:rPr lang="en-US" altLang="ko-KR" sz="1200" b="1"/>
                        <a:t>(Keychain/Keystore)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안전한 장기 저장소 </a:t>
                      </a:r>
                      <a:r>
                        <a:rPr lang="en-US" altLang="ko-KR" sz="1200" dirty="0"/>
                        <a:t>— </a:t>
                      </a:r>
                      <a:r>
                        <a:rPr lang="ko-KR" altLang="en-US" sz="1200" dirty="0"/>
                        <a:t>권장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플랫폼별 구현 필요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/>
                        <a:t>권장</a:t>
                      </a:r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모바일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RT </a:t>
                      </a:r>
                      <a:r>
                        <a:rPr lang="ko-KR" altLang="en-US" sz="1200" dirty="0"/>
                        <a:t>보관 시 우선 고려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845015"/>
                  </a:ext>
                </a:extLst>
              </a:tr>
            </a:tbl>
          </a:graphicData>
        </a:graphic>
      </p:graphicFrame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B0CB6B7-2E5C-4DEE-8DA4-116155A0B084}"/>
              </a:ext>
            </a:extLst>
          </p:cNvPr>
          <p:cNvSpPr/>
          <p:nvPr/>
        </p:nvSpPr>
        <p:spPr>
          <a:xfrm>
            <a:off x="3257499" y="412111"/>
            <a:ext cx="2328862" cy="89296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Refresh token</a:t>
            </a:r>
          </a:p>
          <a:p>
            <a:pPr algn="ctr"/>
            <a:r>
              <a:rPr kumimoji="1" lang="en-US" altLang="ko-KR" dirty="0" err="1"/>
              <a:t>Rt_id</a:t>
            </a:r>
            <a:r>
              <a:rPr kumimoji="1" lang="en-US" altLang="ko-KR" dirty="0"/>
              <a:t>: 3</a:t>
            </a:r>
          </a:p>
          <a:p>
            <a:pPr algn="ctr"/>
            <a:r>
              <a:rPr kumimoji="1" lang="ko-KR" altLang="en-US" dirty="0"/>
              <a:t>유효기간</a:t>
            </a:r>
            <a:r>
              <a:rPr kumimoji="1" lang="en-US" altLang="ko-KR" dirty="0"/>
              <a:t>:3</a:t>
            </a:r>
            <a:r>
              <a:rPr kumimoji="1" lang="ko-KR" altLang="en-US" dirty="0"/>
              <a:t>일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9161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335622-09EF-06BF-7963-B17F319C3B24}"/>
              </a:ext>
            </a:extLst>
          </p:cNvPr>
          <p:cNvSpPr txBox="1"/>
          <p:nvPr/>
        </p:nvSpPr>
        <p:spPr>
          <a:xfrm>
            <a:off x="5320619" y="2599075"/>
            <a:ext cx="2137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6000" dirty="0" err="1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QnA</a:t>
            </a:r>
            <a:endParaRPr lang="ko-KR" altLang="en-US" sz="6000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7711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481"/>
        </a:solidFill>
        <a:ln w="635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chemeClr val="tx1">
              <a:lumMod val="85000"/>
              <a:lumOff val="15000"/>
            </a:schemeClr>
          </a:solidFill>
          <a:headEnd type="diamon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25021</TotalTime>
  <Words>1002</Words>
  <Application>Microsoft Office PowerPoint</Application>
  <PresentationFormat>와이드스크린</PresentationFormat>
  <Paragraphs>230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Pretendard</vt:lpstr>
      <vt:lpstr>Pretendard ExtraBold</vt:lpstr>
      <vt:lpstr>Pretendard Medium</vt:lpstr>
      <vt:lpstr>ui-sans-serif</vt:lpstr>
      <vt:lpstr>맑은 고딕</vt:lpstr>
      <vt:lpstr>Arial</vt:lpstr>
      <vt:lpstr>Office 테마</vt:lpstr>
      <vt:lpstr>PowerPoint 프레젠테이션</vt:lpstr>
      <vt:lpstr>PowerPoint 프레젠테이션</vt:lpstr>
      <vt:lpstr>1. session</vt:lpstr>
      <vt:lpstr>1. session</vt:lpstr>
      <vt:lpstr>1. session</vt:lpstr>
      <vt:lpstr>2. token(jwt)</vt:lpstr>
      <vt:lpstr>2. token(jwt)</vt:lpstr>
      <vt:lpstr>3. session vs token</vt:lpstr>
      <vt:lpstr>3. session vs token</vt:lpstr>
      <vt:lpstr>4. jwt 보안</vt:lpstr>
      <vt:lpstr>4. jwt 보안</vt:lpstr>
      <vt:lpstr>4. jwt 보안</vt:lpstr>
      <vt:lpstr>4. jwt 보안</vt:lpstr>
      <vt:lpstr>5. JWT는 언제 써야 좋을까</vt:lpstr>
      <vt:lpstr>6. session 저장 위치</vt:lpstr>
      <vt:lpstr>6. session &amp; JWT(AT, RT) 저장 위치</vt:lpstr>
      <vt:lpstr>6. session &amp; JWT(AT, RT) 저장 위치</vt:lpstr>
      <vt:lpstr>6. session &amp; JWT(AT, RT) 저장 위치</vt:lpstr>
      <vt:lpstr>7. JWT(AT, RT) 저장 위치</vt:lpstr>
      <vt:lpstr>7. JWT(AT, RT) 저장 위치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cs.hong</dc:creator>
  <cp:lastModifiedBy>SSAFY</cp:lastModifiedBy>
  <cp:revision>1313</cp:revision>
  <dcterms:created xsi:type="dcterms:W3CDTF">2022-02-02T04:32:22Z</dcterms:created>
  <dcterms:modified xsi:type="dcterms:W3CDTF">2025-09-26T04:34:50Z</dcterms:modified>
</cp:coreProperties>
</file>